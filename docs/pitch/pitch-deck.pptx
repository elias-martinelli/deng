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72A"/>
                </a:solidFill>
                <a:latin typeface="Calibri"/>
              </a:defRPr>
            </a:pPr>
            <a:r>
              <a:rPr sz="1300" b="0" i="0" u="none" strike="noStrike">
                <a:solidFill>
                  <a:srgbClr val="0F172A"/>
                </a:solidFill>
                <a:latin typeface="Calibri"/>
              </a:rPr>
              <a:t>Matches per season</a:t>
            </a:r>
          </a:p>
        </c:rich>
      </c:tx>
      <c:layout/>
      <c:overlay val="0"/>
    </c:title>
    <c:autoTitleDeleted val="0"/>
    <c:plotArea>
      <c:layout/>
      <c:barChart>
        <c:barDir val="col"/>
        <c:grouping val="clustered"/>
        <c:varyColors val="0"/>
        <c:ser>
          <c:idx val="0"/>
          <c:order val="0"/>
          <c:tx>
            <c:strRef>
              <c:f>Sheet1!$B$1</c:f>
              <c:strCache>
                <c:ptCount val="1"/>
                <c:pt idx="0">
                  <c:v>Matches</c:v>
                </c:pt>
              </c:strCache>
            </c:strRef>
          </c:tx>
          <c:spPr>
            <a:solidFill>
              <a:srgbClr val="7C3AED"/>
            </a:solidFill>
            <a:effectLst/>
          </c:spPr>
          <c:invertIfNegative val="0"/>
          <c:dLbls>
            <c:numFmt formatCode="#,##0" sourceLinked="0"/>
            <c:txPr>
              <a:bodyPr/>
              <a:lstStyle/>
              <a:p>
                <a:pPr>
                  <a:defRPr b="0" i="0" strike="noStrike" sz="1200" u="none">
                    <a:solidFill>
                      <a:srgbClr val="0F172A"/>
                    </a:solidFill>
                    <a:latin typeface="Arial"/>
                  </a:defRPr>
                </a:pPr>
              </a:p>
            </c:txPr>
            <c:showLegendKey val="0"/>
            <c:showVal val="1"/>
            <c:showCatName val="0"/>
            <c:showSerName val="0"/>
            <c:showPercent val="0"/>
            <c:showBubbleSize val="0"/>
            <c:showLeaderLines val="0"/>
          </c:dLbls>
          <c:cat>
            <c:multiLvlStrRef>
              <c:f>Sheet1!$A$2:$A$4</c:f>
              <c:multiLvlStrCache>
                <c:ptCount val="3"/>
                <c:lvl>
                  <c:pt idx="0">
                    <c:v>2023/24</c:v>
                  </c:pt>
                  <c:pt idx="1">
                    <c:v>2024/25</c:v>
                  </c:pt>
                  <c:pt idx="2">
                    <c:v>2025/26</c:v>
                  </c:pt>
                </c:lvl>
              </c:multiLvlStrCache>
            </c:multiLvlStrRef>
          </c:cat>
          <c:val>
            <c:numRef>
              <c:f>Sheet1!$B$2:$B$4</c:f>
              <c:numCache>
                <c:formatCode>General</c:formatCode>
                <c:ptCount val="3"/>
                <c:pt idx="0">
                  <c:v>125</c:v>
                </c:pt>
                <c:pt idx="1">
                  <c:v>189</c:v>
                </c:pt>
                <c:pt idx="2">
                  <c:v>144</c:v>
                </c:pt>
              </c:numCache>
            </c:numRef>
          </c:val>
        </c:ser>
        <c:dLbls>
          <c:numFmt formatCode="#,##0" sourceLinked="0"/>
          <c:txPr>
            <a:bodyPr/>
            <a:lstStyle/>
            <a:p>
              <a:pPr>
                <a:defRPr b="0" i="0" strike="noStrike" sz="1200" u="none">
                  <a:solidFill>
                    <a:srgbClr val="0F172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569"/>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1 - Titel (Elias, ca. 20 s)
"Wir bauen eine Datenpipeline rund um die Champions League. Sie hält jeden Tag fest, was man an diesem Tag über ein Spiel wusste. Damit kann später ein Modell vorhersagen, wer gewinnt."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2 - Der Anwendungsfall (Elias, ca. 50 s)
• "Unser Anwendungsfall ist ein Modell, das den Sieger vorhersagt. Alles, was wir bauen, gibt es wegen diesem Modell."
• "Die Frage lautet: Wer gewinnt ein Spiel? Und vor allem: Können wir das fair beantworten?"
• "Fair heisst: Das Modell darf nur Dinge benutzen, die vor dem Anpfiff bekannt waren."
• "Das Problem: Die Quellen liefern immer nur den heutigen Stand. Die Wetterprognose von letzter Woche ist weg. Die Quote von gestern ist weg."
• "Wer das nicht jeden Tag speichert, hat diese Geschichte nicht. Genau dieses Speichern ist unser Projekt. Das Modell selbst ist der Zweck, aber nicht Teil dieses Projekts."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3 - Nutzer und Datenprodukt (Elias, ca. 45 s)
• "Hauptnutzer ist ein Data Scientist, also jemand, der ein Modell trainiert."
• "Er bekommt Tabellen, bei denen klar ist, was eine Zeile bedeutet: eine Zeile ist ein Spiel, oder ein Team in einem Spiel."
• "Die wichtigste Tabelle heisst model_features. Eine Zeile ist ein Spiel: links das Ergebnis, rechts alles, was man vor dem Anpfiff wusste. Genau das liest ein Modell."
• "Das Ergebnis nennt man Label, also die Antwort, die das Modell lernen soll. Die Merkmale sind Form, Wetter und Quoten."
• "Im Final kommt eine Zeile pro Spiel pro Tag dazu. Dann kann man fragen: Was wusste man fünf Tage vor dem Spiel?"
• "Daneben gibt es ein Dashboard. Das ist eine Webseite, die genau diese Daten zeigt - damit ein Mensch sieht, was das Modell sieht."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4 - Datenquellen (Noah, ca. 55 s)
• "Vier Anbieter, fünf Schritte beim Holen. Alle gratis, alle dokumentiert, keine Scraper - wir kratzen nichts von Webseiten ab, wir fragen offizielle Schnittstellen."
• "football-data.org liefert Spielplan, Resultate, Teams und Tabelle. Zehn Anfragen pro Minute sind erlaubt; wir brauchen vier pro Tag."
• "Von derselben Quelle holen wir die Vereinswappen. Das ist ein eigener Schritt, weil es Bilder sind und keine Zahlen. Jedes Wappen holen wir genau einmal."
• "Open-Meteo liefert die Wetterprognose, ganz ohne Schlüssel, aber nur 16 Tage im Voraus."
• "The Odds API liefert die Quoten von rund 25 Buchmachern. Gratis sind 500 Abrufe pro Monat. Darum entscheidet die Pipeline selbst, wann sie einen ausgibt."
• "OpenStreetMap liefert die Stadion-Koordinaten. Die brauchen wir fürs Wetter, weil die Fussball-Schnittstelle keine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5 - Wie die Daten aussehen (Noah, ca. 55 s)
• "Wenig Daten, aber viel Geschichte. Und die Zahlen haben wir gemessen, nicht geschätzt."
• "Die aktuelle Ligaphase hat 144 Spiele. Davon sind erst wenige gespielt - für ein Modell ist das viel zu wenig."
• "Darum holen wir alte Saisons. Die Saison 2023/24 hat 125 Spiele, die Saison 2024/25 hat 189 Spiele. Und die Schnittstelle listet 47 Saisons auf."
• "Eine Saison ist eine einzige Anfrage von etwa 200 Kilobyte. Das ist weniger als ein Foto."
• "Mit zwei alten Saisons zusätzlich haben wir heute 458 Spiele, 60 Vereine, und 332 Spiele mit Resultat - das sind die, mit denen man trainieren kann."
• "Ein Detail fürs Modell: 2024/25 wurde das Format geändert, von Gruppenphase auf eine einzige Ligaphase. Alte Saisons sind brauchbar, das Modell muss den Unterschied aber kennen."
• "Und: Nicht alles ist gleich früh bekannt. Der Spielplan Monate vorher, das Wetter 16 Tage vorher, das Resultat Minuten danach."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6 - Risiken (Noah, ca. 50 s)
• "Wir haben die Schnittstelle getestet, nicht geraten. Drei Beispiele:"
• "Der Status lügt: Fragt man nach Spielen mit Status SCHEDULED, kommen Zeilen zurück, die als TIMED gespeichert sind. Wir wählen kommende Spiele darum über die Anstosszeit."
• "Die Summen stimmen nicht: Siege plus Unentschieden plus Niederlagen ergibt nicht die Anzahl Spiele. Deshalb rechnen wir die Form selbst aus den einzelnen Spielen."
• "Die Stadionsuche lag daneben: Beim ersten Versuch landete Napoli in Novara und Roma in Turin. Wir haben jede Koordinate einmal von Hand geprüft. Das Urteil steht in der Datenbank neben der unveränderten Antwort."
• "Dazu kommen die Gratis-Limits: zehn Anfragen pro Minute, 500 Quoten-Abrufe pro Monat. Damit muss die Pipeline umgehen können."
• "Das grösste Risiko ist aber nicht technisch, sondern Data Leakage. Das heisst: Das Modell sieht schon Informationen von nach dem Spiel. Dann sieht es im Test perfekt aus und ist in Wirklichkeit wertlos."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7 - Wie wir holen und speichern (Elias, ca. 85 s)
Das ist die wichtigste Folie für die Bewertung. Sag sie in dieser Reihenfolge:
1. "Zuerst holen wir alles, dann rechnen wir."
2. "Holen heisst: Wir fragen jede Quelle und speichern die Antwort unverändert. Dazu merken wir uns: wer hat geantwortet, auf welche Frage, an welchem Tag."
3. "Der Schlüssel ist: eine Zeile pro Quelle, Frage und Tag. Läuft derselbe Tag zweimal, wird dieselbe Zeile überschrieben statt verdoppelt. Darum ist ein zweiter Lauf ungefährlich."
4. "Erst danach rechnen wir, nur mit SQL: von roh zu sauberen Tabellen zu den fertigen Tabellen - alles in einem Schritt, der entweder ganz klappt oder gar nicht."
5. "Warum in dieser Reihenfolge? Weil wir so jederzeit alles neu bauen können, ohne die Quellen noch einmal zu fragen. Finden wir morgen einen Rechenfehler, reicht ein neuer Rechenlauf."
6. Zur Strategie pro Quelle: "Fussball laden wir jeden Tag komplett neu, weil es eine kleine Antwort ist und sich dabei selbst repariert. Alte Saisons holen wir einmal - zwei Anfragen pro Saison, dann nie wieder, weil eine fertige Saison sich nicht mehr ändert. Wetter nur für Spiele in den nächsten 16 Tagen. Quoten nach Budget, häufiger kurz vor dem Anpfiff. Koordinaten einmal pro Verein."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8 - Die drei Stufen (Elias, ca. 85 s)
Das ist die Hauptfolie. Nimm dir hier am meisten Zeit.
• "Dieses Bild ist das ganze Projekt. Es hat drei Stufen, und jede Stufe ist ein Ordner im Repository."
• "Erstens Holen: pro Quelle eine kleine Python-Datei, alle nach dem gleichen Muster. Jede beantwortet nur zwei Fragen: Was soll ich holen, und wie hole ich es?"
• "Zweitens Rechnen: nummerierte SQL-Dateien, die der Reihe nach laufen. SQL ist die Sprache, mit der man Tabellen abfragt und baut."
• "Drittens das Datenprodukt: die fertigen Tabellen, die das Dashboard heute und ein Modell später liest."
• "Eine Regel hält das Bild zusammen: Das Holen darf nur die Quellen und die Rohdaten lesen, nie die fertigen Tabellen. Wir haben dafür einen Test geschrieben - hält sich jemand nicht daran, schlägt der Test fehl."
• "Jeder Lauf wird protokolliert. Die Frage *hat es gestern funktioniert?* ist bei uns eine kurze Abfrage, keine Suche in Logdateien."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9 - Was heute schon läuft (Noah, ca. 45 s)
• "Dieses Bild zeigt dasselbe genauer, und alles darin existiert im Repository. Die Tabelle daneben sagt, wo."
• "Links die fünf Dateien, eine pro Quelle. In der Mitte eine einzige Datei, die sie der Reihe nach startet."
• "Die Datenbank hat drei Bereiche: roh, sauber, fertig. Elf Dateien bauen die Tabellen, dreizehn Dateien rechnen."
• "Lokal läuft alles in Docker Compose. Das heisst: Datenbank, Steuerung und Dashboard starten zusammen mit einem Befehl, auf jedem Rechner gleich."
• "Die Steuerung ist Dagster. Sie startet den Lauf jeden Tag um sechs Uhr, kann einzelne Tage nachholen und wiederholt Fehler, bei denen sich ein zweiter Versuch lohnt."
• "Zum Ausprobieren braucht man nicht einmal einen Schlüssel: Wir haben echte Beispiel-Antworten im Repository. Ein fremdes Team tippt zwei Befehle und die Pipeline läuft."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10 - Ziel und Aufgabenteilung (beide, ca. 50 s)
• Elias: "Das ist unser Ziel. Im Final schreibt derselbe Code die Rohdaten in einen Google-Cloud-Speicher und die fertigen Tabellen nach BigQuery. Das ist die Datenbank von Google für grosse Auswertungen."
• Elias: "Terraform stellt beides automatisch bereit - man klickt nichts von Hand zusammen, sondern beschreibt es in einer Datei."
• Elias: "Wichtig: Die Quellen und das SQL bleiben gleich. Es wechselt nur das Ziel. Der lokale Weg bleibt zum Entwickeln."
• Noah: "Die Aufgaben sind geteilt, aber jeder muss alles erklären können. Ich habe Wetter, Stadien, die Rechenschritte und das Dashboard. Elias hat Fussball, alte Saisons, Steuerung, Docker und die Quoten. Die Cloud machen wir zusammen."
• "Nächster Meilenstein ist der Midterm am 22. Oktober mit der lokalen Pipeline, danach die Cloud bis zum 10. Dezember."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Fragen, die kommen - und kurze Antworten
Pro Folie: was du sagst, in einfachen Worten. Nicht auswendig lernen - der Kern sind die fett markierten Sätze. Danach die Fragen, die erfahrungsgemäss kommen, mit kurzen Antworten.
Faustregel für jede Antwort: zuerst der Satz, dann die Begründung, dann die Alternative, die wir verworfen haben. Genau das wird bewertet.
Drei Wörter, die du sicher erklären können musst:
• Pipeline - ein Programm, das jeden Tag automatisch Daten holt und ordnet.
• Roh (raw) - die Antwort einer Quelle, genau so gespeichert, wie sie kam.
• Fertig (curated) - saubere Tabellen, mit denen man direkt arbeiten kann.
"Warum speichert ihr die Rohdaten überhaupt?" Weil die Quellen nur den heutigen Stand liefern. Prognosen und Quoten werden überschrieben, Anstosszeiten ändern sich. Unser Rohbereich ist das einzige Archiv, das wir besitzen - und die Grundlage, um alles neu zu rechnen, ohne die Quelle erneut zu fragen.
"Was passiert, wenn ihr die Pipeline zweimal am selben Tag laufen lasst?" Nichts Schlimmes. Der Schlüssel ist Quelle, Frage und Tag. Der zweite Lauf überschreibt dieselbe Zeile. Wir melden sogar, ob sich die Antwort überhaupt geändert hat.
"Was passiert, wenn eine Quelle ausfällt?" Wir unterscheiden zwei Fehlerarten. Zu viele Anfragen, Serverfehler und Netzprobleme werden wiederholt, mit wachsendem Abstand. Ein gesperrter Zugriff oder ein fehlender Schlüssel wird sofort gemeldet, weil ein zweiter Versuch nichts ändert. Der Lauf wird als fehlgeschlagen protokolliert, die alten Daten bleiben unangetastet.
"Warum keine Echtzeit?" Der Anwendungsfall ist eine Vorhersage vor dem Anpfiff. Ein Lauf pro Tag reicht, und die Gratis-Limits erlauben ohnehin nicht mehr. Nur die Quoten holen wir kurz vor dem Anpfiff häufiger, weil sie sich dann bewegen.
"Wie verhindert ihr Data Leakage?" Durch die Konstruktion. Die Form eines Teams für ein Spiel benutzt nur Spiele, die vor diesem Anpfiff fertig waren. Beim Wetter zählt nur eine Prognose, die vor dem Anpfiff geholt wurde. Beides steht so im SQL. Das Dashboard rechnet diese Regeln zusätzlich aus den Tabellen nach, statt sie nur zu behaupten.
"Warum holt ihr alte Saisons - reicht die laufende nicht?" Nein. Die laufende Ligaphase hat 144 Spiele, und erst wenige davon sind gespielt. Ein Modell braucht Beispiele mit bekanntem Ausgang. Eine fertige Saison kostet zwei Anfragen, ändert sich nie mehr und bringt 125 bis 189 Spiele. Welche Saisons wir laden, steht in einer Einstellung - eine Zeile ändern, fertig.
"Sind alte Saisons überhaupt vergleichbar?" Teilweise. 2024/25 wurde das Format geändert. Wir speichern darum zu jedem Spiel die Saison, damit ein Modell die Formate unterscheiden kann. Wir werfen nichts weg und tun auch nicht so, als wäre alles gleich.
"Warum PostgreSQL und nicht direkt die Cloud?" Lokal entwickeln ist schneller und kostenlos, und das Modul verlangt PostgreSQL lokal. Der Aufbau - roh, sauber, fertig - ist derselbe wie später in BigQuery. Der Umzug ist darum ein Wechsel des Ziels, kein Neubau.
"Warum vier Anbieter und nicht einer?" Weil die Fussball-Schnittstelle kein Wetter, keine Koordinaten und keine echten Quoten liefert. Jede Quelle schliesst genau eine Lücke, und jede ist gratis.
"Wie viele Daten sind das?" Pro Tag unter zwei Megabyte. Eine Saison ist eine Anfrage von etwa 200 Kilobyte. Die Tiefe kommt aus der Geschichte: 47 gelistete Saisons, die wir einmalig holen könnten.
"Was ist noch offen?" Die Tabelle mit einer Zeile pro Spiel pro Tag, der Cloud-Weg mit Terraform, und die Entscheidung, wie viele alte Saisons wir am Ende laden. Das steht im Backlog.
"Warum ladet ihr jeden Tag alles neu statt nur die Änderungen?" Weil die Antwort klein und begrenzt ist: eine Anfrage, 212 Kilobyte, das ganze Turnier. Nur die Änderungen zu holen würde eine zusätzliche Anfrage kosten, um überhaupt zu erfahren, *was* sich geändert hat - und es würde die Spiele übersehen, die die Schnittstelle dazufügt, etwa nach der Auslosung im Dezember. Ein Volllauf heilt sich ausserdem selbst: ein verpasster Tag ist am nächsten Tag wieder ausgeglichen. Genau dort, wo inkrementell richtig ist, machen wir es auch inkrementell: alte Saisons einmal, Wappen einmal pro Adresse, Stadien einmal pro Verein. Die Regel ist also nicht "immer voll", sondern "voll, solange die Antwort klein und veränderlich ist".
"Was passiert bei hundertmal so vielen Daten?" Die Ingestion bleibt, wie sie ist - sie ist durch die Gratis-Limits begrenzt, nicht durch unsere Technik: zehn Anfragen pro Minute heisst, hundert Saisons brauchen rund zwanzig Minuten, einmalig. Der Engpass wandert in die Transformation, denn die baut die Tabellen heute komplett neu. Bei hundertmal mehr Daten würden wir pro Saison beziehungsweise pro Tag partitionieren und nur die betroffene Partition neu rechnen; der Rohbereich hat den Tag schon als Schlüssel, die Struktur dafür steht also. In BigQuery wäre es dieselbe Idee mit Partitionierung nach Datum. Ehrlich gesagt: gemessen haben wir das nicht, wir haben es hergeleitet - heute sind es 458 Spiele, das ist für PostgreSQL nichts.
"Warum Dagster und nicht Airflow?" Wegen der Backfills und wegen der Grösse. Unser Denkmodell ist "ein Lauf pro Tag", und genau das ist in Dagster eine Partition: einen Zeitraum nachzuholen ist ein Knopf, keine selbstgeschriebene Schleife. Dazu kommt der Aufwand im Container: Dagster sind zwei Dienste neben unserer bestehenden Datenbank, Airflow wären mindestens vier plus Warteschlange. Airflow ist der Industrie- Standard, das ist der Nachteil unserer Wahl - aber wir müssen es in zehn Minuten erklären können, und Dagsters Assets sind eins zu eins unsere Tabellen. Der Vergleich mit vier Werkzeugen steht in ADR-002.
"Wie wisst ihr, ob die Daten stimmen?" Wir behaupten es nicht, wir prüfen es nach jedem Lauf: 24 Prüfungen, deren Ergebnis in der Datenbank landet. Sechzehn davon sind kritisch und brechen den Lauf ab - zum Beispiel, wenn ein Formwert ein Spiel benutzt, das nach dem Anpfiff lag. Acht sind Warnungen und bleiben sichtbar, etwa ein Verein ohne Stadion. Wir haben das absichtlich nicht auf eine Folie genommen, weil es Milestone 1 nicht verlangt - erklären können wir es.
"Dürft ihr diese Daten überhaupt verwenden?" Ja, und wir haben es pro Quelle nachgelesen: Open-Meteo steht unter CC BY 4.0, OpenStreetMap unter ODbL - beide verlangen Namensnennung, die im Repository steht. Die Fussball-Schnittstelle und die Quoten nutzen wir im Gratis-Tarif für Lern- und Evaluationszwecke, mit Schlüsseln, die nie im Repository liegen. Wir scrapen nichts und wir veröffentlichen die Daten nicht weiter.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822960"/>
            <a:ext cx="5486400" cy="320040"/>
          </a:xfrm>
          <a:prstGeom prst="rect">
            <a:avLst/>
          </a:prstGeom>
          <a:noFill/>
          <a:ln/>
        </p:spPr>
        <p:txBody>
          <a:bodyPr wrap="square" lIns="0" tIns="0" rIns="0" bIns="0" rtlCol="0" anchor="t"/>
          <a:lstStyle/>
          <a:p>
            <a:pPr indent="0" marL="0">
              <a:buNone/>
            </a:pPr>
            <a:r>
              <a:rPr lang="en-US" sz="1400" b="1" dirty="0">
                <a:solidFill>
                  <a:srgbClr val="7DD3FC"/>
                </a:solidFill>
                <a:latin typeface="Calibri" pitchFamily="34" charset="0"/>
                <a:ea typeface="Calibri" pitchFamily="34" charset="-122"/>
                <a:cs typeface="Calibri" pitchFamily="34" charset="-120"/>
              </a:rPr>
              <a:t>HSLU · DENG Data Engineering · HS26</a:t>
            </a:r>
            <a:endParaRPr lang="en-US" sz="1400" dirty="0"/>
          </a:p>
        </p:txBody>
      </p:sp>
      <p:sp>
        <p:nvSpPr>
          <p:cNvPr id="3" name="Text 1"/>
          <p:cNvSpPr txBox="1"/>
          <p:nvPr/>
        </p:nvSpPr>
        <p:spPr>
          <a:xfrm>
            <a:off x="548640" y="1234440"/>
            <a:ext cx="5669280" cy="146304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Champions League</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Match Intelligence</a:t>
            </a:r>
            <a:endParaRPr lang="en-US" sz="4000" dirty="0"/>
          </a:p>
        </p:txBody>
      </p:sp>
      <p:sp>
        <p:nvSpPr>
          <p:cNvPr id="4" name="Text 2"/>
          <p:cNvSpPr txBox="1"/>
          <p:nvPr/>
        </p:nvSpPr>
        <p:spPr>
          <a:xfrm>
            <a:off x="548640" y="2788920"/>
            <a:ext cx="5669280" cy="731520"/>
          </a:xfrm>
          <a:prstGeom prst="rect">
            <a:avLst/>
          </a:prstGeom>
          <a:noFill/>
          <a:ln/>
        </p:spPr>
        <p:txBody>
          <a:bodyPr wrap="square" lIns="0" tIns="0" rIns="0" bIns="0" rtlCol="0" anchor="t"/>
          <a:lstStyle/>
          <a:p>
            <a:pPr indent="0" marL="0">
              <a:buNone/>
            </a:pPr>
            <a:r>
              <a:rPr lang="en-US" sz="1600" dirty="0">
                <a:solidFill>
                  <a:srgbClr val="CBD5E1"/>
                </a:solidFill>
                <a:latin typeface="Calibri" pitchFamily="34" charset="0"/>
                <a:ea typeface="Calibri" pitchFamily="34" charset="-122"/>
                <a:cs typeface="Calibri" pitchFamily="34" charset="-120"/>
              </a:rPr>
              <a:t>Recording every day what was known about a match -</a:t>
            </a:r>
            <a:endParaRPr lang="en-US" sz="1600" dirty="0"/>
          </a:p>
          <a:p>
            <a:pPr indent="0" marL="0">
              <a:buNone/>
            </a:pPr>
            <a:r>
              <a:rPr lang="en-US" sz="1600" dirty="0">
                <a:solidFill>
                  <a:srgbClr val="CBD5E1"/>
                </a:solidFill>
                <a:latin typeface="Calibri" pitchFamily="34" charset="0"/>
                <a:ea typeface="Calibri" pitchFamily="34" charset="-122"/>
                <a:cs typeface="Calibri" pitchFamily="34" charset="-120"/>
              </a:rPr>
              <a:t>so a model can later predict who wins.</a:t>
            </a:r>
            <a:endParaRPr lang="en-US" sz="1600" dirty="0"/>
          </a:p>
        </p:txBody>
      </p:sp>
      <p:sp>
        <p:nvSpPr>
          <p:cNvPr id="5" name="Text 3"/>
          <p:cNvSpPr txBox="1"/>
          <p:nvPr/>
        </p:nvSpPr>
        <p:spPr>
          <a:xfrm>
            <a:off x="548640" y="4069080"/>
            <a:ext cx="5486400" cy="3200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Elias Martinelli · Noah Rodriguez</a:t>
            </a:r>
            <a:endParaRPr lang="en-US" sz="1400" dirty="0"/>
          </a:p>
        </p:txBody>
      </p:sp>
      <p:sp>
        <p:nvSpPr>
          <p:cNvPr id="6" name="Text 4"/>
          <p:cNvSpPr txBox="1"/>
          <p:nvPr/>
        </p:nvSpPr>
        <p:spPr>
          <a:xfrm>
            <a:off x="548640" y="4389120"/>
            <a:ext cx="5486400" cy="274320"/>
          </a:xfrm>
          <a:prstGeom prst="rect">
            <a:avLst/>
          </a:prstGeom>
          <a:noFill/>
          <a:ln/>
        </p:spPr>
        <p:txBody>
          <a:bodyPr wrap="square" lIns="0" tIns="0" rIns="0" bIns="0" rtlCol="0" anchor="t"/>
          <a:lstStyle/>
          <a:p>
            <a:pPr indent="0" marL="0">
              <a:buNone/>
            </a:pPr>
            <a:r>
              <a:rPr lang="en-US" sz="1200" dirty="0">
                <a:solidFill>
                  <a:srgbClr val="94A3B8"/>
                </a:solidFill>
                <a:latin typeface="Calibri" pitchFamily="34" charset="0"/>
                <a:ea typeface="Calibri" pitchFamily="34" charset="-122"/>
                <a:cs typeface="Calibri" pitchFamily="34" charset="-120"/>
              </a:rPr>
              <a:t>github.com/Elias-Martinelli/deng</a:t>
            </a:r>
            <a:endParaRPr lang="en-US" sz="1200" dirty="0"/>
          </a:p>
        </p:txBody>
      </p:sp>
      <p:sp>
        <p:nvSpPr>
          <p:cNvPr id="7" name="Shape 5"/>
          <p:cNvSpPr/>
          <p:nvPr/>
        </p:nvSpPr>
        <p:spPr>
          <a:xfrm>
            <a:off x="6355080" y="1234440"/>
            <a:ext cx="2377440" cy="2377440"/>
          </a:xfrm>
          <a:prstGeom prst="ellipse">
            <a:avLst/>
          </a:prstGeom>
          <a:solidFill>
            <a:srgbClr val="1E293B"/>
          </a:solidFill>
          <a:ln w="38100">
            <a:solidFill>
              <a:srgbClr val="7C3AED"/>
            </a:solidFill>
            <a:prstDash val="solid"/>
          </a:ln>
        </p:spPr>
      </p:sp>
      <p:pic>
        <p:nvPicPr>
          <p:cNvPr id="8" name="Image 0" descr="preencoded.png">    </p:cNvPr>
          <p:cNvPicPr>
            <a:picLocks noChangeAspect="1"/>
          </p:cNvPicPr>
          <p:nvPr/>
        </p:nvPicPr>
        <p:blipFill>
          <a:blip r:embed="rId1"/>
          <a:stretch>
            <a:fillRect/>
          </a:stretch>
        </p:blipFill>
        <p:spPr>
          <a:xfrm>
            <a:off x="6903720" y="1783080"/>
            <a:ext cx="1280160" cy="12801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Who wins - and can we answer that fairly?</a:t>
            </a:r>
            <a:endParaRPr lang="en-US" sz="3000" dirty="0"/>
          </a:p>
        </p:txBody>
      </p:sp>
      <p:sp>
        <p:nvSpPr>
          <p:cNvPr id="3" name="Text 1"/>
          <p:cNvSpPr txBox="1"/>
          <p:nvPr/>
        </p:nvSpPr>
        <p:spPr>
          <a:xfrm>
            <a:off x="457200" y="932688"/>
            <a:ext cx="8229600" cy="365760"/>
          </a:xfrm>
          <a:prstGeom prst="rect">
            <a:avLst/>
          </a:prstGeom>
          <a:noFill/>
          <a:ln/>
        </p:spPr>
        <p:txBody>
          <a:bodyPr wrap="square" lIns="0" tIns="0" rIns="0" bIns="0" rtlCol="0" anchor="t"/>
          <a:lstStyle/>
          <a:p>
            <a:pPr indent="0" marL="0">
              <a:buNone/>
            </a:pPr>
            <a:r>
              <a:rPr lang="en-US" sz="1600" dirty="0">
                <a:solidFill>
                  <a:srgbClr val="475569"/>
                </a:solidFill>
                <a:latin typeface="Calibri" pitchFamily="34" charset="0"/>
                <a:ea typeface="Calibri" pitchFamily="34" charset="-122"/>
                <a:cs typeface="Calibri" pitchFamily="34" charset="-120"/>
              </a:rPr>
              <a:t>A fair model may only use what was known before kick-off.</a:t>
            </a:r>
            <a:endParaRPr lang="en-US" sz="1600" dirty="0"/>
          </a:p>
        </p:txBody>
      </p:sp>
      <p:sp>
        <p:nvSpPr>
          <p:cNvPr id="4" name="Shape 2"/>
          <p:cNvSpPr/>
          <p:nvPr/>
        </p:nvSpPr>
        <p:spPr>
          <a:xfrm>
            <a:off x="457200" y="1600200"/>
            <a:ext cx="1874520" cy="2011680"/>
          </a:xfrm>
          <a:prstGeom prst="roundRect">
            <a:avLst>
              <a:gd name="adj" fmla="val 3902"/>
            </a:avLst>
          </a:prstGeom>
          <a:solidFill>
            <a:srgbClr val="F1F5F9"/>
          </a:solidFill>
          <a:ln w="12700">
            <a:solidFill>
              <a:srgbClr val="F1F5F9"/>
            </a:solidFill>
            <a:prstDash val="solid"/>
          </a:ln>
        </p:spPr>
      </p:sp>
      <p:sp>
        <p:nvSpPr>
          <p:cNvPr id="5" name="Shape 3"/>
          <p:cNvSpPr/>
          <p:nvPr/>
        </p:nvSpPr>
        <p:spPr>
          <a:xfrm>
            <a:off x="685800" y="1828800"/>
            <a:ext cx="594360" cy="594360"/>
          </a:xfrm>
          <a:prstGeom prst="ellipse">
            <a:avLst/>
          </a:prstGeom>
          <a:solidFill>
            <a:srgbClr val="0F172A"/>
          </a:solidFill>
          <a:ln w="12700">
            <a:solidFill>
              <a:srgbClr val="0F172A"/>
            </a:solidFill>
            <a:prstDash val="solid"/>
          </a:ln>
        </p:spPr>
      </p:sp>
      <p:pic>
        <p:nvPicPr>
          <p:cNvPr id="6" name="Image 0" descr="preencoded.png">    </p:cNvPr>
          <p:cNvPicPr>
            <a:picLocks noChangeAspect="1"/>
          </p:cNvPicPr>
          <p:nvPr/>
        </p:nvPicPr>
        <p:blipFill>
          <a:blip r:embed="rId1"/>
          <a:stretch>
            <a:fillRect/>
          </a:stretch>
        </p:blipFill>
        <p:spPr>
          <a:xfrm>
            <a:off x="840334" y="1983334"/>
            <a:ext cx="285293" cy="285293"/>
          </a:xfrm>
          <a:prstGeom prst="rect">
            <a:avLst/>
          </a:prstGeom>
        </p:spPr>
      </p:pic>
      <p:sp>
        <p:nvSpPr>
          <p:cNvPr id="7" name="Text 4"/>
          <p:cNvSpPr txBox="1"/>
          <p:nvPr/>
        </p:nvSpPr>
        <p:spPr>
          <a:xfrm>
            <a:off x="685800" y="2560320"/>
            <a:ext cx="1508760" cy="347472"/>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Fixtures</a:t>
            </a:r>
            <a:endParaRPr lang="en-US" sz="1600" dirty="0"/>
          </a:p>
        </p:txBody>
      </p:sp>
      <p:sp>
        <p:nvSpPr>
          <p:cNvPr id="8" name="Text 5"/>
          <p:cNvSpPr txBox="1"/>
          <p:nvPr/>
        </p:nvSpPr>
        <p:spPr>
          <a:xfrm>
            <a:off x="685800" y="2926080"/>
            <a:ext cx="1508760" cy="594360"/>
          </a:xfrm>
          <a:prstGeom prst="rect">
            <a:avLst/>
          </a:prstGeom>
          <a:noFill/>
          <a:ln/>
        </p:spPr>
        <p:txBody>
          <a:bodyPr wrap="square" lIns="0" tIns="0" rIns="0" bIns="0" rtlCol="0" anchor="t"/>
          <a:lstStyle/>
          <a:p>
            <a:pPr indent="0" marL="0">
              <a:buNone/>
            </a:pPr>
            <a:r>
              <a:rPr lang="en-US" sz="1200" dirty="0">
                <a:solidFill>
                  <a:srgbClr val="475569"/>
                </a:solidFill>
                <a:latin typeface="Calibri" pitchFamily="34" charset="0"/>
                <a:ea typeface="Calibri" pitchFamily="34" charset="-122"/>
                <a:cs typeface="Calibri" pitchFamily="34" charset="-120"/>
              </a:rPr>
              <a:t>months ahead,</a:t>
            </a:r>
            <a:endParaRPr lang="en-US" sz="1200" dirty="0"/>
          </a:p>
          <a:p>
            <a:pPr indent="0" marL="0">
              <a:buNone/>
            </a:pPr>
            <a:r>
              <a:rPr lang="en-US" sz="1200" dirty="0">
                <a:solidFill>
                  <a:srgbClr val="475569"/>
                </a:solidFill>
                <a:latin typeface="Calibri" pitchFamily="34" charset="0"/>
                <a:ea typeface="Calibri" pitchFamily="34" charset="-122"/>
                <a:cs typeface="Calibri" pitchFamily="34" charset="-120"/>
              </a:rPr>
              <a:t>kick-off times still move</a:t>
            </a:r>
            <a:endParaRPr lang="en-US" sz="1200" dirty="0"/>
          </a:p>
        </p:txBody>
      </p:sp>
      <p:sp>
        <p:nvSpPr>
          <p:cNvPr id="9" name="Shape 6"/>
          <p:cNvSpPr/>
          <p:nvPr/>
        </p:nvSpPr>
        <p:spPr>
          <a:xfrm>
            <a:off x="2560320" y="1600200"/>
            <a:ext cx="1874520" cy="2011680"/>
          </a:xfrm>
          <a:prstGeom prst="roundRect">
            <a:avLst>
              <a:gd name="adj" fmla="val 3902"/>
            </a:avLst>
          </a:prstGeom>
          <a:solidFill>
            <a:srgbClr val="F1F5F9"/>
          </a:solidFill>
          <a:ln w="12700">
            <a:solidFill>
              <a:srgbClr val="F1F5F9"/>
            </a:solidFill>
            <a:prstDash val="solid"/>
          </a:ln>
        </p:spPr>
      </p:sp>
      <p:sp>
        <p:nvSpPr>
          <p:cNvPr id="10" name="Shape 7"/>
          <p:cNvSpPr/>
          <p:nvPr/>
        </p:nvSpPr>
        <p:spPr>
          <a:xfrm>
            <a:off x="2788920" y="1828800"/>
            <a:ext cx="594360" cy="594360"/>
          </a:xfrm>
          <a:prstGeom prst="ellipse">
            <a:avLst/>
          </a:prstGeom>
          <a:solidFill>
            <a:srgbClr val="0F172A"/>
          </a:solidFill>
          <a:ln w="12700">
            <a:solidFill>
              <a:srgbClr val="0F172A"/>
            </a:solidFill>
            <a:prstDash val="solid"/>
          </a:ln>
        </p:spPr>
      </p:sp>
      <p:pic>
        <p:nvPicPr>
          <p:cNvPr id="11" name="Image 1" descr="preencoded.png">    </p:cNvPr>
          <p:cNvPicPr>
            <a:picLocks noChangeAspect="1"/>
          </p:cNvPicPr>
          <p:nvPr/>
        </p:nvPicPr>
        <p:blipFill>
          <a:blip r:embed="rId2"/>
          <a:stretch>
            <a:fillRect/>
          </a:stretch>
        </p:blipFill>
        <p:spPr>
          <a:xfrm>
            <a:off x="2943454" y="1983334"/>
            <a:ext cx="285293" cy="285293"/>
          </a:xfrm>
          <a:prstGeom prst="rect">
            <a:avLst/>
          </a:prstGeom>
        </p:spPr>
      </p:pic>
      <p:sp>
        <p:nvSpPr>
          <p:cNvPr id="12" name="Text 8"/>
          <p:cNvSpPr txBox="1"/>
          <p:nvPr/>
        </p:nvSpPr>
        <p:spPr>
          <a:xfrm>
            <a:off x="2788920" y="2560320"/>
            <a:ext cx="1508760" cy="347472"/>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Table &amp; form</a:t>
            </a:r>
            <a:endParaRPr lang="en-US" sz="1600" dirty="0"/>
          </a:p>
        </p:txBody>
      </p:sp>
      <p:sp>
        <p:nvSpPr>
          <p:cNvPr id="13" name="Text 9"/>
          <p:cNvSpPr txBox="1"/>
          <p:nvPr/>
        </p:nvSpPr>
        <p:spPr>
          <a:xfrm>
            <a:off x="2788920" y="2926080"/>
            <a:ext cx="1508760" cy="594360"/>
          </a:xfrm>
          <a:prstGeom prst="rect">
            <a:avLst/>
          </a:prstGeom>
          <a:noFill/>
          <a:ln/>
        </p:spPr>
        <p:txBody>
          <a:bodyPr wrap="square" lIns="0" tIns="0" rIns="0" bIns="0" rtlCol="0" anchor="t"/>
          <a:lstStyle/>
          <a:p>
            <a:pPr indent="0" marL="0">
              <a:buNone/>
            </a:pPr>
            <a:r>
              <a:rPr lang="en-US" sz="1200" dirty="0">
                <a:solidFill>
                  <a:srgbClr val="475569"/>
                </a:solidFill>
                <a:latin typeface="Calibri" pitchFamily="34" charset="0"/>
                <a:ea typeface="Calibri" pitchFamily="34" charset="-122"/>
                <a:cs typeface="Calibri" pitchFamily="34" charset="-120"/>
              </a:rPr>
              <a:t>change after</a:t>
            </a:r>
            <a:endParaRPr lang="en-US" sz="1200" dirty="0"/>
          </a:p>
          <a:p>
            <a:pPr indent="0" marL="0">
              <a:buNone/>
            </a:pPr>
            <a:r>
              <a:rPr lang="en-US" sz="1200" dirty="0">
                <a:solidFill>
                  <a:srgbClr val="475569"/>
                </a:solidFill>
                <a:latin typeface="Calibri" pitchFamily="34" charset="0"/>
                <a:ea typeface="Calibri" pitchFamily="34" charset="-122"/>
                <a:cs typeface="Calibri" pitchFamily="34" charset="-120"/>
              </a:rPr>
              <a:t>every matchday</a:t>
            </a:r>
            <a:endParaRPr lang="en-US" sz="1200" dirty="0"/>
          </a:p>
        </p:txBody>
      </p:sp>
      <p:sp>
        <p:nvSpPr>
          <p:cNvPr id="14" name="Shape 10"/>
          <p:cNvSpPr/>
          <p:nvPr/>
        </p:nvSpPr>
        <p:spPr>
          <a:xfrm>
            <a:off x="4663440" y="1600200"/>
            <a:ext cx="1874520" cy="2011680"/>
          </a:xfrm>
          <a:prstGeom prst="roundRect">
            <a:avLst>
              <a:gd name="adj" fmla="val 3902"/>
            </a:avLst>
          </a:prstGeom>
          <a:solidFill>
            <a:srgbClr val="F1F5F9"/>
          </a:solidFill>
          <a:ln w="12700">
            <a:solidFill>
              <a:srgbClr val="F1F5F9"/>
            </a:solidFill>
            <a:prstDash val="solid"/>
          </a:ln>
        </p:spPr>
      </p:sp>
      <p:sp>
        <p:nvSpPr>
          <p:cNvPr id="15" name="Shape 11"/>
          <p:cNvSpPr/>
          <p:nvPr/>
        </p:nvSpPr>
        <p:spPr>
          <a:xfrm>
            <a:off x="4892040" y="1828800"/>
            <a:ext cx="594360" cy="594360"/>
          </a:xfrm>
          <a:prstGeom prst="ellipse">
            <a:avLst/>
          </a:prstGeom>
          <a:solidFill>
            <a:srgbClr val="0F172A"/>
          </a:solidFill>
          <a:ln w="12700">
            <a:solidFill>
              <a:srgbClr val="0F172A"/>
            </a:solidFill>
            <a:prstDash val="solid"/>
          </a:ln>
        </p:spPr>
      </p:sp>
      <p:pic>
        <p:nvPicPr>
          <p:cNvPr id="16" name="Image 2" descr="preencoded.png">    </p:cNvPr>
          <p:cNvPicPr>
            <a:picLocks noChangeAspect="1"/>
          </p:cNvPicPr>
          <p:nvPr/>
        </p:nvPicPr>
        <p:blipFill>
          <a:blip r:embed="rId3"/>
          <a:stretch>
            <a:fillRect/>
          </a:stretch>
        </p:blipFill>
        <p:spPr>
          <a:xfrm>
            <a:off x="5046574" y="1983334"/>
            <a:ext cx="285293" cy="285293"/>
          </a:xfrm>
          <a:prstGeom prst="rect">
            <a:avLst/>
          </a:prstGeom>
        </p:spPr>
      </p:pic>
      <p:sp>
        <p:nvSpPr>
          <p:cNvPr id="17" name="Text 12"/>
          <p:cNvSpPr txBox="1"/>
          <p:nvPr/>
        </p:nvSpPr>
        <p:spPr>
          <a:xfrm>
            <a:off x="4892040" y="2560320"/>
            <a:ext cx="1508760" cy="347472"/>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Weather</a:t>
            </a:r>
            <a:endParaRPr lang="en-US" sz="1600" dirty="0"/>
          </a:p>
        </p:txBody>
      </p:sp>
      <p:sp>
        <p:nvSpPr>
          <p:cNvPr id="18" name="Text 13"/>
          <p:cNvSpPr txBox="1"/>
          <p:nvPr/>
        </p:nvSpPr>
        <p:spPr>
          <a:xfrm>
            <a:off x="4892040" y="2926080"/>
            <a:ext cx="1508760" cy="594360"/>
          </a:xfrm>
          <a:prstGeom prst="rect">
            <a:avLst/>
          </a:prstGeom>
          <a:noFill/>
          <a:ln/>
        </p:spPr>
        <p:txBody>
          <a:bodyPr wrap="square" lIns="0" tIns="0" rIns="0" bIns="0" rtlCol="0" anchor="t"/>
          <a:lstStyle/>
          <a:p>
            <a:pPr indent="0" marL="0">
              <a:buNone/>
            </a:pPr>
            <a:r>
              <a:rPr lang="en-US" sz="1200" dirty="0">
                <a:solidFill>
                  <a:srgbClr val="475569"/>
                </a:solidFill>
                <a:latin typeface="Calibri" pitchFamily="34" charset="0"/>
                <a:ea typeface="Calibri" pitchFamily="34" charset="-122"/>
                <a:cs typeface="Calibri" pitchFamily="34" charset="-120"/>
              </a:rPr>
              <a:t>max. 16 days ahead,</a:t>
            </a:r>
            <a:endParaRPr lang="en-US" sz="1200" dirty="0"/>
          </a:p>
          <a:p>
            <a:pPr indent="0" marL="0">
              <a:buNone/>
            </a:pPr>
            <a:r>
              <a:rPr lang="en-US" sz="1200" dirty="0">
                <a:solidFill>
                  <a:srgbClr val="475569"/>
                </a:solidFill>
                <a:latin typeface="Calibri" pitchFamily="34" charset="0"/>
                <a:ea typeface="Calibri" pitchFamily="34" charset="-122"/>
                <a:cs typeface="Calibri" pitchFamily="34" charset="-120"/>
              </a:rPr>
              <a:t>then overwritten</a:t>
            </a:r>
            <a:endParaRPr lang="en-US" sz="1200" dirty="0"/>
          </a:p>
        </p:txBody>
      </p:sp>
      <p:sp>
        <p:nvSpPr>
          <p:cNvPr id="19" name="Shape 14"/>
          <p:cNvSpPr/>
          <p:nvPr/>
        </p:nvSpPr>
        <p:spPr>
          <a:xfrm>
            <a:off x="6766560" y="1600200"/>
            <a:ext cx="1874520" cy="2011680"/>
          </a:xfrm>
          <a:prstGeom prst="roundRect">
            <a:avLst>
              <a:gd name="adj" fmla="val 3902"/>
            </a:avLst>
          </a:prstGeom>
          <a:solidFill>
            <a:srgbClr val="F1F5F9"/>
          </a:solidFill>
          <a:ln w="12700">
            <a:solidFill>
              <a:srgbClr val="F1F5F9"/>
            </a:solidFill>
            <a:prstDash val="solid"/>
          </a:ln>
        </p:spPr>
      </p:sp>
      <p:sp>
        <p:nvSpPr>
          <p:cNvPr id="20" name="Shape 15"/>
          <p:cNvSpPr/>
          <p:nvPr/>
        </p:nvSpPr>
        <p:spPr>
          <a:xfrm>
            <a:off x="6995160" y="1828800"/>
            <a:ext cx="594360" cy="594360"/>
          </a:xfrm>
          <a:prstGeom prst="ellipse">
            <a:avLst/>
          </a:prstGeom>
          <a:solidFill>
            <a:srgbClr val="0F172A"/>
          </a:solidFill>
          <a:ln w="12700">
            <a:solidFill>
              <a:srgbClr val="0F172A"/>
            </a:solidFill>
            <a:prstDash val="solid"/>
          </a:ln>
        </p:spPr>
      </p:sp>
      <p:pic>
        <p:nvPicPr>
          <p:cNvPr id="21" name="Image 3" descr="preencoded.png">    </p:cNvPr>
          <p:cNvPicPr>
            <a:picLocks noChangeAspect="1"/>
          </p:cNvPicPr>
          <p:nvPr/>
        </p:nvPicPr>
        <p:blipFill>
          <a:blip r:embed="rId4"/>
          <a:stretch>
            <a:fillRect/>
          </a:stretch>
        </p:blipFill>
        <p:spPr>
          <a:xfrm>
            <a:off x="7149694" y="1983334"/>
            <a:ext cx="285293" cy="285293"/>
          </a:xfrm>
          <a:prstGeom prst="rect">
            <a:avLst/>
          </a:prstGeom>
        </p:spPr>
      </p:pic>
      <p:sp>
        <p:nvSpPr>
          <p:cNvPr id="22" name="Text 16"/>
          <p:cNvSpPr txBox="1"/>
          <p:nvPr/>
        </p:nvSpPr>
        <p:spPr>
          <a:xfrm>
            <a:off x="6995160" y="2560320"/>
            <a:ext cx="1508760" cy="347472"/>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Odds</a:t>
            </a:r>
            <a:endParaRPr lang="en-US" sz="1600" dirty="0"/>
          </a:p>
        </p:txBody>
      </p:sp>
      <p:sp>
        <p:nvSpPr>
          <p:cNvPr id="23" name="Text 17"/>
          <p:cNvSpPr txBox="1"/>
          <p:nvPr/>
        </p:nvSpPr>
        <p:spPr>
          <a:xfrm>
            <a:off x="6995160" y="2926080"/>
            <a:ext cx="1508760" cy="594360"/>
          </a:xfrm>
          <a:prstGeom prst="rect">
            <a:avLst/>
          </a:prstGeom>
          <a:noFill/>
          <a:ln/>
        </p:spPr>
        <p:txBody>
          <a:bodyPr wrap="square" lIns="0" tIns="0" rIns="0" bIns="0" rtlCol="0" anchor="t"/>
          <a:lstStyle/>
          <a:p>
            <a:pPr indent="0" marL="0">
              <a:buNone/>
            </a:pPr>
            <a:r>
              <a:rPr lang="en-US" sz="1200" dirty="0">
                <a:solidFill>
                  <a:srgbClr val="475569"/>
                </a:solidFill>
                <a:latin typeface="Calibri" pitchFamily="34" charset="0"/>
                <a:ea typeface="Calibri" pitchFamily="34" charset="-122"/>
                <a:cs typeface="Calibri" pitchFamily="34" charset="-120"/>
              </a:rPr>
              <a:t>move</a:t>
            </a:r>
            <a:endParaRPr lang="en-US" sz="1200" dirty="0"/>
          </a:p>
          <a:p>
            <a:pPr indent="0" marL="0">
              <a:buNone/>
            </a:pPr>
            <a:r>
              <a:rPr lang="en-US" sz="1200" dirty="0">
                <a:solidFill>
                  <a:srgbClr val="475569"/>
                </a:solidFill>
                <a:latin typeface="Calibri" pitchFamily="34" charset="0"/>
                <a:ea typeface="Calibri" pitchFamily="34" charset="-122"/>
                <a:cs typeface="Calibri" pitchFamily="34" charset="-120"/>
              </a:rPr>
              <a:t>by the minute</a:t>
            </a:r>
            <a:endParaRPr lang="en-US" sz="1200" dirty="0"/>
          </a:p>
        </p:txBody>
      </p:sp>
      <p:sp>
        <p:nvSpPr>
          <p:cNvPr id="24" name="Text 18"/>
          <p:cNvSpPr txBox="1"/>
          <p:nvPr/>
        </p:nvSpPr>
        <p:spPr>
          <a:xfrm>
            <a:off x="457200" y="3977640"/>
            <a:ext cx="8229600" cy="45720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What is not stored today is gone tomorrow. </a:t>
            </a:r>
            <a:pPr indent="0" marL="0">
              <a:buNone/>
            </a:pPr>
            <a:r>
              <a:rPr lang="en-US" sz="1800" b="1" dirty="0">
                <a:solidFill>
                  <a:srgbClr val="7C3AED"/>
                </a:solidFill>
                <a:latin typeface="Calibri" pitchFamily="34" charset="0"/>
                <a:ea typeface="Calibri" pitchFamily="34" charset="-122"/>
                <a:cs typeface="Calibri" pitchFamily="34" charset="-120"/>
              </a:rPr>
              <a:t>Storing it is the project.</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End user and data product</a:t>
            </a:r>
            <a:endParaRPr lang="en-US" sz="3000" dirty="0"/>
          </a:p>
        </p:txBody>
      </p:sp>
      <p:sp>
        <p:nvSpPr>
          <p:cNvPr id="3" name="Shape 1"/>
          <p:cNvSpPr/>
          <p:nvPr/>
        </p:nvSpPr>
        <p:spPr>
          <a:xfrm>
            <a:off x="457200" y="1188720"/>
            <a:ext cx="2468880" cy="3383280"/>
          </a:xfrm>
          <a:prstGeom prst="roundRect">
            <a:avLst>
              <a:gd name="adj" fmla="val 2963"/>
            </a:avLst>
          </a:prstGeom>
          <a:solidFill>
            <a:srgbClr val="F1F5F9"/>
          </a:solidFill>
          <a:ln w="12700">
            <a:solidFill>
              <a:srgbClr val="F1F5F9"/>
            </a:solidFill>
            <a:prstDash val="solid"/>
          </a:ln>
        </p:spPr>
      </p:sp>
      <p:sp>
        <p:nvSpPr>
          <p:cNvPr id="4" name="Shape 2"/>
          <p:cNvSpPr/>
          <p:nvPr/>
        </p:nvSpPr>
        <p:spPr>
          <a:xfrm>
            <a:off x="731520" y="1463040"/>
            <a:ext cx="731520" cy="731520"/>
          </a:xfrm>
          <a:prstGeom prst="ellipse">
            <a:avLst/>
          </a:prstGeom>
          <a:solidFill>
            <a:srgbClr val="7C3AED"/>
          </a:solidFill>
          <a:ln w="12700">
            <a:solidFill>
              <a:srgbClr val="7C3AED"/>
            </a:solidFill>
            <a:prstDash val="solid"/>
          </a:ln>
        </p:spPr>
      </p:sp>
      <p:pic>
        <p:nvPicPr>
          <p:cNvPr id="5" name="Image 0" descr="preencoded.png">    </p:cNvPr>
          <p:cNvPicPr>
            <a:picLocks noChangeAspect="1"/>
          </p:cNvPicPr>
          <p:nvPr/>
        </p:nvPicPr>
        <p:blipFill>
          <a:blip r:embed="rId1"/>
          <a:stretch>
            <a:fillRect/>
          </a:stretch>
        </p:blipFill>
        <p:spPr>
          <a:xfrm>
            <a:off x="921715" y="1653235"/>
            <a:ext cx="351130" cy="351130"/>
          </a:xfrm>
          <a:prstGeom prst="rect">
            <a:avLst/>
          </a:prstGeom>
        </p:spPr>
      </p:pic>
      <p:sp>
        <p:nvSpPr>
          <p:cNvPr id="6" name="Text 3"/>
          <p:cNvSpPr txBox="1"/>
          <p:nvPr/>
        </p:nvSpPr>
        <p:spPr>
          <a:xfrm>
            <a:off x="731520" y="2331720"/>
            <a:ext cx="2011680" cy="365760"/>
          </a:xfrm>
          <a:prstGeom prst="rect">
            <a:avLst/>
          </a:prstGeom>
          <a:noFill/>
          <a:ln/>
        </p:spPr>
        <p:txBody>
          <a:bodyPr wrap="square" lIns="0" tIns="0" rIns="0" bIns="0" rtlCol="0" anchor="t"/>
          <a:lstStyle/>
          <a:p>
            <a:pPr indent="0" marL="0">
              <a:buNone/>
            </a:pPr>
            <a:r>
              <a:rPr lang="en-US" sz="1800" b="1" dirty="0">
                <a:solidFill>
                  <a:srgbClr val="0F172A"/>
                </a:solidFill>
                <a:latin typeface="Calibri" pitchFamily="34" charset="0"/>
                <a:ea typeface="Calibri" pitchFamily="34" charset="-122"/>
                <a:cs typeface="Calibri" pitchFamily="34" charset="-120"/>
              </a:rPr>
              <a:t>Data scientist</a:t>
            </a:r>
            <a:endParaRPr lang="en-US" sz="1800" dirty="0"/>
          </a:p>
        </p:txBody>
      </p:sp>
      <p:sp>
        <p:nvSpPr>
          <p:cNvPr id="7" name="Text 4"/>
          <p:cNvSpPr txBox="1"/>
          <p:nvPr/>
        </p:nvSpPr>
        <p:spPr>
          <a:xfrm>
            <a:off x="731520" y="2697480"/>
            <a:ext cx="2011680" cy="594360"/>
          </a:xfrm>
          <a:prstGeom prst="rect">
            <a:avLst/>
          </a:prstGeom>
          <a:noFill/>
          <a:ln/>
        </p:spPr>
        <p:txBody>
          <a:bodyPr wrap="square" lIns="0" tIns="0" rIns="0" bIns="0" rtlCol="0" anchor="t"/>
          <a:lstStyle/>
          <a:p>
            <a:pPr indent="0" marL="0">
              <a:buNone/>
            </a:pPr>
            <a:r>
              <a:rPr lang="en-US" sz="1300" dirty="0">
                <a:solidFill>
                  <a:srgbClr val="475569"/>
                </a:solidFill>
                <a:latin typeface="Calibri" pitchFamily="34" charset="0"/>
                <a:ea typeface="Calibri" pitchFamily="34" charset="-122"/>
                <a:cs typeface="Calibri" pitchFamily="34" charset="-120"/>
              </a:rPr>
              <a:t>trains and tests a</a:t>
            </a:r>
            <a:endParaRPr lang="en-US" sz="1300" dirty="0"/>
          </a:p>
          <a:p>
            <a:pPr indent="0" marL="0">
              <a:buNone/>
            </a:pPr>
            <a:r>
              <a:rPr lang="en-US" sz="1300" dirty="0">
                <a:solidFill>
                  <a:srgbClr val="475569"/>
                </a:solidFill>
                <a:latin typeface="Calibri" pitchFamily="34" charset="0"/>
                <a:ea typeface="Calibri" pitchFamily="34" charset="-122"/>
                <a:cs typeface="Calibri" pitchFamily="34" charset="-120"/>
              </a:rPr>
              <a:t>match-outcome model</a:t>
            </a:r>
            <a:endParaRPr lang="en-US" sz="1300" dirty="0"/>
          </a:p>
        </p:txBody>
      </p:sp>
      <p:sp>
        <p:nvSpPr>
          <p:cNvPr id="8" name="Text 5"/>
          <p:cNvSpPr txBox="1"/>
          <p:nvPr/>
        </p:nvSpPr>
        <p:spPr>
          <a:xfrm>
            <a:off x="731520" y="3611880"/>
            <a:ext cx="2011680" cy="777240"/>
          </a:xfrm>
          <a:prstGeom prst="rect">
            <a:avLst/>
          </a:prstGeom>
          <a:noFill/>
          <a:ln/>
        </p:spPr>
        <p:txBody>
          <a:bodyPr wrap="square" lIns="0" tIns="0" rIns="0" bIns="0" rtlCol="0" anchor="t"/>
          <a:lstStyle/>
          <a:p>
            <a:pPr indent="0" marL="0">
              <a:buNone/>
            </a:pPr>
            <a:r>
              <a:rPr lang="en-US" sz="1100" i="1" dirty="0">
                <a:solidFill>
                  <a:srgbClr val="475569"/>
                </a:solidFill>
                <a:latin typeface="Calibri" pitchFamily="34" charset="0"/>
                <a:ea typeface="Calibri" pitchFamily="34" charset="-122"/>
                <a:cs typeface="Calibri" pitchFamily="34" charset="-120"/>
              </a:rPr>
              <a:t>Secondary: a dashboard</a:t>
            </a:r>
            <a:endParaRPr lang="en-US" sz="1100" dirty="0"/>
          </a:p>
          <a:p>
            <a:pPr indent="0" marL="0">
              <a:buNone/>
            </a:pPr>
            <a:r>
              <a:rPr lang="en-US" sz="1100" i="1" dirty="0">
                <a:solidFill>
                  <a:srgbClr val="475569"/>
                </a:solidFill>
                <a:latin typeface="Calibri" pitchFamily="34" charset="0"/>
                <a:ea typeface="Calibri" pitchFamily="34" charset="-122"/>
                <a:cs typeface="Calibri" pitchFamily="34" charset="-120"/>
              </a:rPr>
              <a:t>that shows what the</a:t>
            </a:r>
            <a:endParaRPr lang="en-US" sz="1100" dirty="0"/>
          </a:p>
          <a:p>
            <a:pPr indent="0" marL="0">
              <a:buNone/>
            </a:pPr>
            <a:r>
              <a:rPr lang="en-US" sz="1100" i="1" dirty="0">
                <a:solidFill>
                  <a:srgbClr val="475569"/>
                </a:solidFill>
                <a:latin typeface="Calibri" pitchFamily="34" charset="0"/>
                <a:ea typeface="Calibri" pitchFamily="34" charset="-122"/>
                <a:cs typeface="Calibri" pitchFamily="34" charset="-120"/>
              </a:rPr>
              <a:t>model would see</a:t>
            </a:r>
            <a:endParaRPr lang="en-US" sz="1100" dirty="0"/>
          </a:p>
        </p:txBody>
      </p:sp>
      <p:sp>
        <p:nvSpPr>
          <p:cNvPr id="9" name="Text 6"/>
          <p:cNvSpPr txBox="1"/>
          <p:nvPr/>
        </p:nvSpPr>
        <p:spPr>
          <a:xfrm>
            <a:off x="3291840" y="1673352"/>
            <a:ext cx="1280160" cy="292608"/>
          </a:xfrm>
          <a:prstGeom prst="rect">
            <a:avLst/>
          </a:prstGeom>
          <a:noFill/>
          <a:ln/>
        </p:spPr>
        <p:txBody>
          <a:bodyPr wrap="square" lIns="0" tIns="0" rIns="0" bIns="0" rtlCol="0" anchor="t"/>
          <a:lstStyle/>
          <a:p>
            <a:pPr algn="ctr" indent="0" marL="0">
              <a:buNone/>
            </a:pPr>
            <a:r>
              <a:rPr lang="en-US" sz="1200" b="1" dirty="0">
                <a:solidFill>
                  <a:srgbClr val="7C3AED"/>
                </a:solidFill>
                <a:latin typeface="Calibri" pitchFamily="34" charset="0"/>
                <a:ea typeface="Calibri" pitchFamily="34" charset="-122"/>
                <a:cs typeface="Calibri" pitchFamily="34" charset="-120"/>
              </a:rPr>
              <a:t>label</a:t>
            </a:r>
            <a:endParaRPr lang="en-US" sz="1200" dirty="0"/>
          </a:p>
        </p:txBody>
      </p:sp>
      <p:sp>
        <p:nvSpPr>
          <p:cNvPr id="10" name="Text 7"/>
          <p:cNvSpPr txBox="1"/>
          <p:nvPr/>
        </p:nvSpPr>
        <p:spPr>
          <a:xfrm>
            <a:off x="4663440" y="1673352"/>
            <a:ext cx="4023360" cy="292608"/>
          </a:xfrm>
          <a:prstGeom prst="rect">
            <a:avLst/>
          </a:prstGeom>
          <a:noFill/>
          <a:ln/>
        </p:spPr>
        <p:txBody>
          <a:bodyPr wrap="square" lIns="0" tIns="0" rIns="0" bIns="0" rtlCol="0" anchor="t"/>
          <a:lstStyle/>
          <a:p>
            <a:pPr algn="ctr" indent="0" marL="0">
              <a:buNone/>
            </a:pPr>
            <a:r>
              <a:rPr lang="en-US" sz="1200" b="1" dirty="0">
                <a:solidFill>
                  <a:srgbClr val="0F9D76"/>
                </a:solidFill>
                <a:latin typeface="Calibri" pitchFamily="34" charset="0"/>
                <a:ea typeface="Calibri" pitchFamily="34" charset="-122"/>
                <a:cs typeface="Calibri" pitchFamily="34" charset="-120"/>
              </a:rPr>
              <a:t>features - known before kick-off</a:t>
            </a:r>
            <a:endParaRPr lang="en-US" sz="1200" dirty="0"/>
          </a:p>
        </p:txBody>
      </p:sp>
      <p:sp>
        <p:nvSpPr>
          <p:cNvPr id="11" name="Shape 8"/>
          <p:cNvSpPr/>
          <p:nvPr/>
        </p:nvSpPr>
        <p:spPr>
          <a:xfrm>
            <a:off x="3291840" y="2057400"/>
            <a:ext cx="1280160" cy="914400"/>
          </a:xfrm>
          <a:prstGeom prst="roundRect">
            <a:avLst>
              <a:gd name="adj" fmla="val 6000"/>
            </a:avLst>
          </a:prstGeom>
          <a:solidFill>
            <a:srgbClr val="7C3AED"/>
          </a:solidFill>
          <a:ln w="12700">
            <a:solidFill>
              <a:srgbClr val="7C3AED"/>
            </a:solidFill>
            <a:prstDash val="solid"/>
          </a:ln>
        </p:spPr>
      </p:sp>
      <p:sp>
        <p:nvSpPr>
          <p:cNvPr id="12" name="Text 9"/>
          <p:cNvSpPr txBox="1"/>
          <p:nvPr/>
        </p:nvSpPr>
        <p:spPr>
          <a:xfrm>
            <a:off x="3291840" y="2057400"/>
            <a:ext cx="1280160" cy="9144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Result</a:t>
            </a:r>
            <a:endParaRPr lang="en-US" sz="1500" dirty="0"/>
          </a:p>
          <a:p>
            <a:pPr algn="ctr" indent="0" marL="0">
              <a:buNone/>
            </a:pPr>
            <a:r>
              <a:rPr lang="en-US" sz="1050" dirty="0">
                <a:solidFill>
                  <a:srgbClr val="E9D5FF"/>
                </a:solidFill>
                <a:latin typeface="Calibri" pitchFamily="34" charset="0"/>
                <a:ea typeface="Calibri" pitchFamily="34" charset="-122"/>
                <a:cs typeface="Calibri" pitchFamily="34" charset="-120"/>
              </a:rPr>
              <a:t>home · draw · away</a:t>
            </a:r>
            <a:endParaRPr lang="en-US" sz="1500" dirty="0"/>
          </a:p>
        </p:txBody>
      </p:sp>
      <p:sp>
        <p:nvSpPr>
          <p:cNvPr id="13" name="Shape 10"/>
          <p:cNvSpPr/>
          <p:nvPr/>
        </p:nvSpPr>
        <p:spPr>
          <a:xfrm>
            <a:off x="4663440" y="2057400"/>
            <a:ext cx="1280160" cy="914400"/>
          </a:xfrm>
          <a:prstGeom prst="roundRect">
            <a:avLst>
              <a:gd name="adj" fmla="val 6000"/>
            </a:avLst>
          </a:prstGeom>
          <a:solidFill>
            <a:srgbClr val="ECFDF5"/>
          </a:solidFill>
          <a:ln w="12700">
            <a:solidFill>
              <a:srgbClr val="0F9D76"/>
            </a:solidFill>
            <a:prstDash val="solid"/>
          </a:ln>
        </p:spPr>
      </p:sp>
      <p:sp>
        <p:nvSpPr>
          <p:cNvPr id="14" name="Text 11"/>
          <p:cNvSpPr txBox="1"/>
          <p:nvPr/>
        </p:nvSpPr>
        <p:spPr>
          <a:xfrm>
            <a:off x="4663440" y="2057400"/>
            <a:ext cx="1280160" cy="914400"/>
          </a:xfrm>
          <a:prstGeom prst="rect">
            <a:avLst/>
          </a:prstGeom>
          <a:noFill/>
          <a:ln/>
        </p:spPr>
        <p:txBody>
          <a:bodyPr wrap="square" lIns="0" tIns="0" rIns="0" bIns="0" rtlCol="0" anchor="ctr"/>
          <a:lstStyle/>
          <a:p>
            <a:pPr algn="ctr" indent="0" marL="0">
              <a:buNone/>
            </a:pPr>
            <a:r>
              <a:rPr lang="en-US" sz="1500" b="1" dirty="0">
                <a:solidFill>
                  <a:srgbClr val="0F172A"/>
                </a:solidFill>
                <a:latin typeface="Calibri" pitchFamily="34" charset="0"/>
                <a:ea typeface="Calibri" pitchFamily="34" charset="-122"/>
                <a:cs typeface="Calibri" pitchFamily="34" charset="-120"/>
              </a:rPr>
              <a:t>Form</a:t>
            </a:r>
            <a:endParaRPr lang="en-US" sz="1500" dirty="0"/>
          </a:p>
          <a:p>
            <a:pPr algn="ctr" indent="0" marL="0">
              <a:buNone/>
            </a:pPr>
            <a:r>
              <a:rPr lang="en-US" sz="1050" dirty="0">
                <a:solidFill>
                  <a:srgbClr val="475569"/>
                </a:solidFill>
                <a:latin typeface="Calibri" pitchFamily="34" charset="0"/>
                <a:ea typeface="Calibri" pitchFamily="34" charset="-122"/>
                <a:cs typeface="Calibri" pitchFamily="34" charset="-120"/>
              </a:rPr>
              <a:t>from earlier matches</a:t>
            </a:r>
            <a:endParaRPr lang="en-US" sz="1500" dirty="0"/>
          </a:p>
        </p:txBody>
      </p:sp>
      <p:sp>
        <p:nvSpPr>
          <p:cNvPr id="15" name="Shape 12"/>
          <p:cNvSpPr/>
          <p:nvPr/>
        </p:nvSpPr>
        <p:spPr>
          <a:xfrm>
            <a:off x="6035040" y="2057400"/>
            <a:ext cx="1280160" cy="914400"/>
          </a:xfrm>
          <a:prstGeom prst="roundRect">
            <a:avLst>
              <a:gd name="adj" fmla="val 6000"/>
            </a:avLst>
          </a:prstGeom>
          <a:solidFill>
            <a:srgbClr val="ECFDF5"/>
          </a:solidFill>
          <a:ln w="12700">
            <a:solidFill>
              <a:srgbClr val="0F9D76"/>
            </a:solidFill>
            <a:prstDash val="solid"/>
          </a:ln>
        </p:spPr>
      </p:sp>
      <p:sp>
        <p:nvSpPr>
          <p:cNvPr id="16" name="Text 13"/>
          <p:cNvSpPr txBox="1"/>
          <p:nvPr/>
        </p:nvSpPr>
        <p:spPr>
          <a:xfrm>
            <a:off x="6035040" y="2057400"/>
            <a:ext cx="1280160" cy="914400"/>
          </a:xfrm>
          <a:prstGeom prst="rect">
            <a:avLst/>
          </a:prstGeom>
          <a:noFill/>
          <a:ln/>
        </p:spPr>
        <p:txBody>
          <a:bodyPr wrap="square" lIns="0" tIns="0" rIns="0" bIns="0" rtlCol="0" anchor="ctr"/>
          <a:lstStyle/>
          <a:p>
            <a:pPr algn="ctr" indent="0" marL="0">
              <a:buNone/>
            </a:pPr>
            <a:r>
              <a:rPr lang="en-US" sz="1500" b="1" dirty="0">
                <a:solidFill>
                  <a:srgbClr val="0F172A"/>
                </a:solidFill>
                <a:latin typeface="Calibri" pitchFamily="34" charset="0"/>
                <a:ea typeface="Calibri" pitchFamily="34" charset="-122"/>
                <a:cs typeface="Calibri" pitchFamily="34" charset="-120"/>
              </a:rPr>
              <a:t>Weather</a:t>
            </a:r>
            <a:endParaRPr lang="en-US" sz="1500" dirty="0"/>
          </a:p>
          <a:p>
            <a:pPr algn="ctr" indent="0" marL="0">
              <a:buNone/>
            </a:pPr>
            <a:r>
              <a:rPr lang="en-US" sz="1050" dirty="0">
                <a:solidFill>
                  <a:srgbClr val="475569"/>
                </a:solidFill>
                <a:latin typeface="Calibri" pitchFamily="34" charset="0"/>
                <a:ea typeface="Calibri" pitchFamily="34" charset="-122"/>
                <a:cs typeface="Calibri" pitchFamily="34" charset="-120"/>
              </a:rPr>
              <a:t>kick-off forecast</a:t>
            </a:r>
            <a:endParaRPr lang="en-US" sz="1500" dirty="0"/>
          </a:p>
        </p:txBody>
      </p:sp>
      <p:sp>
        <p:nvSpPr>
          <p:cNvPr id="17" name="Shape 14"/>
          <p:cNvSpPr/>
          <p:nvPr/>
        </p:nvSpPr>
        <p:spPr>
          <a:xfrm>
            <a:off x="7406640" y="2057400"/>
            <a:ext cx="1280160" cy="914400"/>
          </a:xfrm>
          <a:prstGeom prst="roundRect">
            <a:avLst>
              <a:gd name="adj" fmla="val 6000"/>
            </a:avLst>
          </a:prstGeom>
          <a:solidFill>
            <a:srgbClr val="ECFDF5"/>
          </a:solidFill>
          <a:ln w="12700">
            <a:solidFill>
              <a:srgbClr val="0F9D76"/>
            </a:solidFill>
            <a:prstDash val="solid"/>
          </a:ln>
        </p:spPr>
      </p:sp>
      <p:sp>
        <p:nvSpPr>
          <p:cNvPr id="18" name="Text 15"/>
          <p:cNvSpPr txBox="1"/>
          <p:nvPr/>
        </p:nvSpPr>
        <p:spPr>
          <a:xfrm>
            <a:off x="7406640" y="2057400"/>
            <a:ext cx="1280160" cy="914400"/>
          </a:xfrm>
          <a:prstGeom prst="rect">
            <a:avLst/>
          </a:prstGeom>
          <a:noFill/>
          <a:ln/>
        </p:spPr>
        <p:txBody>
          <a:bodyPr wrap="square" lIns="0" tIns="0" rIns="0" bIns="0" rtlCol="0" anchor="ctr"/>
          <a:lstStyle/>
          <a:p>
            <a:pPr algn="ctr" indent="0" marL="0">
              <a:buNone/>
            </a:pPr>
            <a:r>
              <a:rPr lang="en-US" sz="1500" b="1" dirty="0">
                <a:solidFill>
                  <a:srgbClr val="0F172A"/>
                </a:solidFill>
                <a:latin typeface="Calibri" pitchFamily="34" charset="0"/>
                <a:ea typeface="Calibri" pitchFamily="34" charset="-122"/>
                <a:cs typeface="Calibri" pitchFamily="34" charset="-120"/>
              </a:rPr>
              <a:t>Odds</a:t>
            </a:r>
            <a:endParaRPr lang="en-US" sz="1500" dirty="0"/>
          </a:p>
          <a:p>
            <a:pPr algn="ctr" indent="0" marL="0">
              <a:buNone/>
            </a:pPr>
            <a:r>
              <a:rPr lang="en-US" sz="1050" dirty="0">
                <a:solidFill>
                  <a:srgbClr val="475569"/>
                </a:solidFill>
                <a:latin typeface="Calibri" pitchFamily="34" charset="0"/>
                <a:ea typeface="Calibri" pitchFamily="34" charset="-122"/>
                <a:cs typeface="Calibri" pitchFamily="34" charset="-120"/>
              </a:rPr>
              <a:t>market view</a:t>
            </a:r>
            <a:endParaRPr lang="en-US" sz="1500" dirty="0"/>
          </a:p>
        </p:txBody>
      </p:sp>
      <p:sp>
        <p:nvSpPr>
          <p:cNvPr id="19" name="Text 16"/>
          <p:cNvSpPr txBox="1"/>
          <p:nvPr/>
        </p:nvSpPr>
        <p:spPr>
          <a:xfrm>
            <a:off x="3291840" y="3200400"/>
            <a:ext cx="5394960" cy="365760"/>
          </a:xfrm>
          <a:prstGeom prst="rect">
            <a:avLst/>
          </a:prstGeom>
          <a:noFill/>
          <a:ln/>
        </p:spPr>
        <p:txBody>
          <a:bodyPr wrap="square" lIns="0" tIns="0" rIns="0" bIns="0" rtlCol="0" anchor="t"/>
          <a:lstStyle/>
          <a:p>
            <a:pPr indent="0" marL="0">
              <a:buNone/>
            </a:pPr>
            <a:r>
              <a:rPr lang="en-US" sz="1500" b="1" dirty="0">
                <a:solidFill>
                  <a:srgbClr val="0F172A"/>
                </a:solidFill>
                <a:latin typeface="Courier New" pitchFamily="34" charset="0"/>
                <a:ea typeface="Courier New" pitchFamily="34" charset="-122"/>
                <a:cs typeface="Courier New" pitchFamily="34" charset="-120"/>
              </a:rPr>
              <a:t>curated.model_features</a:t>
            </a:r>
            <a:pPr indent="0" marL="0">
              <a:buNone/>
            </a:pPr>
            <a:r>
              <a:rPr lang="en-US" sz="1500" dirty="0">
                <a:solidFill>
                  <a:srgbClr val="475569"/>
                </a:solidFill>
                <a:latin typeface="Calibri" pitchFamily="34" charset="0"/>
                <a:ea typeface="Calibri" pitchFamily="34" charset="-122"/>
                <a:cs typeface="Calibri" pitchFamily="34" charset="-120"/>
              </a:rPr>
              <a:t>  =  one row per match</a:t>
            </a:r>
            <a:endParaRPr lang="en-US" sz="1500" dirty="0"/>
          </a:p>
        </p:txBody>
      </p:sp>
      <p:sp>
        <p:nvSpPr>
          <p:cNvPr id="20" name="Text 17"/>
          <p:cNvSpPr txBox="1"/>
          <p:nvPr/>
        </p:nvSpPr>
        <p:spPr>
          <a:xfrm>
            <a:off x="3291840" y="3749040"/>
            <a:ext cx="5394960" cy="640080"/>
          </a:xfrm>
          <a:prstGeom prst="rect">
            <a:avLst/>
          </a:prstGeom>
          <a:noFill/>
          <a:ln/>
        </p:spPr>
        <p:txBody>
          <a:bodyPr wrap="square" lIns="0" tIns="0" rIns="0" bIns="0" rtlCol="0" anchor="t"/>
          <a:lstStyle/>
          <a:p>
            <a:pPr indent="0" marL="0">
              <a:buNone/>
            </a:pPr>
            <a:r>
              <a:rPr lang="en-US" sz="1200" dirty="0">
                <a:solidFill>
                  <a:srgbClr val="475569"/>
                </a:solidFill>
                <a:latin typeface="Calibri" pitchFamily="34" charset="0"/>
                <a:ea typeface="Calibri" pitchFamily="34" charset="-122"/>
                <a:cs typeface="Calibri" pitchFamily="34" charset="-120"/>
              </a:rPr>
              <a:t>Final milestone: one row per match per day →</a:t>
            </a:r>
            <a:endParaRPr lang="en-US" sz="1200" dirty="0"/>
          </a:p>
          <a:p>
            <a:pPr indent="0" marL="0">
              <a:buNone/>
            </a:pPr>
            <a:r>
              <a:rPr lang="en-US" sz="1200" dirty="0">
                <a:solidFill>
                  <a:srgbClr val="475569"/>
                </a:solidFill>
                <a:latin typeface="Calibri" pitchFamily="34" charset="0"/>
                <a:ea typeface="Calibri" pitchFamily="34" charset="-122"/>
                <a:cs typeface="Calibri" pitchFamily="34" charset="-120"/>
              </a:rPr>
              <a:t>"what was known 5 days before kick-off?" becomes a query.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Four free sources, five ingestion steps</a:t>
            </a:r>
            <a:endParaRPr lang="en-US" sz="3000" dirty="0"/>
          </a:p>
        </p:txBody>
      </p:sp>
      <p:sp>
        <p:nvSpPr>
          <p:cNvPr id="3" name="Shape 1"/>
          <p:cNvSpPr/>
          <p:nvPr/>
        </p:nvSpPr>
        <p:spPr>
          <a:xfrm>
            <a:off x="457200" y="1188720"/>
            <a:ext cx="4023360" cy="1508760"/>
          </a:xfrm>
          <a:prstGeom prst="roundRect">
            <a:avLst>
              <a:gd name="adj" fmla="val 4848"/>
            </a:avLst>
          </a:prstGeom>
          <a:solidFill>
            <a:srgbClr val="F1F5F9"/>
          </a:solidFill>
          <a:ln w="12700">
            <a:solidFill>
              <a:srgbClr val="F1F5F9"/>
            </a:solidFill>
            <a:prstDash val="solid"/>
          </a:ln>
        </p:spPr>
      </p:sp>
      <p:sp>
        <p:nvSpPr>
          <p:cNvPr id="4" name="Shape 2"/>
          <p:cNvSpPr/>
          <p:nvPr/>
        </p:nvSpPr>
        <p:spPr>
          <a:xfrm>
            <a:off x="731520" y="1572768"/>
            <a:ext cx="731520" cy="731520"/>
          </a:xfrm>
          <a:prstGeom prst="ellipse">
            <a:avLst/>
          </a:prstGeom>
          <a:solidFill>
            <a:srgbClr val="0F172A"/>
          </a:solidFill>
          <a:ln w="12700">
            <a:solidFill>
              <a:srgbClr val="0F172A"/>
            </a:solidFill>
            <a:prstDash val="solid"/>
          </a:ln>
        </p:spPr>
      </p:sp>
      <p:pic>
        <p:nvPicPr>
          <p:cNvPr id="5" name="Image 0" descr="preencoded.png">    </p:cNvPr>
          <p:cNvPicPr>
            <a:picLocks noChangeAspect="1"/>
          </p:cNvPicPr>
          <p:nvPr/>
        </p:nvPicPr>
        <p:blipFill>
          <a:blip r:embed="rId1"/>
          <a:stretch>
            <a:fillRect/>
          </a:stretch>
        </p:blipFill>
        <p:spPr>
          <a:xfrm>
            <a:off x="921715" y="1762963"/>
            <a:ext cx="351130" cy="351130"/>
          </a:xfrm>
          <a:prstGeom prst="rect">
            <a:avLst/>
          </a:prstGeom>
        </p:spPr>
      </p:pic>
      <p:sp>
        <p:nvSpPr>
          <p:cNvPr id="6" name="Text 3"/>
          <p:cNvSpPr txBox="1"/>
          <p:nvPr/>
        </p:nvSpPr>
        <p:spPr>
          <a:xfrm>
            <a:off x="1691640" y="1444752"/>
            <a:ext cx="2651760" cy="365760"/>
          </a:xfrm>
          <a:prstGeom prst="rect">
            <a:avLst/>
          </a:prstGeom>
          <a:noFill/>
          <a:ln/>
        </p:spPr>
        <p:txBody>
          <a:bodyPr wrap="square" lIns="0" tIns="0" rIns="0" bIns="0" rtlCol="0" anchor="t"/>
          <a:lstStyle/>
          <a:p>
            <a:pPr indent="0" marL="0">
              <a:buNone/>
            </a:pPr>
            <a:r>
              <a:rPr lang="en-US" sz="1800" b="1" dirty="0">
                <a:solidFill>
                  <a:srgbClr val="0F172A"/>
                </a:solidFill>
                <a:latin typeface="Calibri" pitchFamily="34" charset="0"/>
                <a:ea typeface="Calibri" pitchFamily="34" charset="-122"/>
                <a:cs typeface="Calibri" pitchFamily="34" charset="-120"/>
              </a:rPr>
              <a:t>football-data.org</a:t>
            </a:r>
            <a:endParaRPr lang="en-US" sz="1800" dirty="0"/>
          </a:p>
        </p:txBody>
      </p:sp>
      <p:sp>
        <p:nvSpPr>
          <p:cNvPr id="7" name="Text 4"/>
          <p:cNvSpPr txBox="1"/>
          <p:nvPr/>
        </p:nvSpPr>
        <p:spPr>
          <a:xfrm>
            <a:off x="1691640" y="1828800"/>
            <a:ext cx="2651760" cy="320040"/>
          </a:xfrm>
          <a:prstGeom prst="rect">
            <a:avLst/>
          </a:prstGeom>
          <a:noFill/>
          <a:ln/>
        </p:spPr>
        <p:txBody>
          <a:bodyPr wrap="square" lIns="0" tIns="0" rIns="0" bIns="0" rtlCol="0" anchor="t"/>
          <a:lstStyle/>
          <a:p>
            <a:pPr indent="0" marL="0">
              <a:buNone/>
            </a:pPr>
            <a:r>
              <a:rPr lang="en-US" sz="1300" dirty="0">
                <a:solidFill>
                  <a:srgbClr val="0F172A"/>
                </a:solidFill>
                <a:latin typeface="Calibri" pitchFamily="34" charset="0"/>
                <a:ea typeface="Calibri" pitchFamily="34" charset="-122"/>
                <a:cs typeface="Calibri" pitchFamily="34" charset="-120"/>
              </a:rPr>
              <a:t>fixtures · results · standings · crests</a:t>
            </a:r>
            <a:endParaRPr lang="en-US" sz="1300" dirty="0"/>
          </a:p>
        </p:txBody>
      </p:sp>
      <p:sp>
        <p:nvSpPr>
          <p:cNvPr id="8" name="Text 5"/>
          <p:cNvSpPr txBox="1"/>
          <p:nvPr/>
        </p:nvSpPr>
        <p:spPr>
          <a:xfrm>
            <a:off x="1691640" y="2167128"/>
            <a:ext cx="2651760" cy="292608"/>
          </a:xfrm>
          <a:prstGeom prst="rect">
            <a:avLst/>
          </a:prstGeom>
          <a:noFill/>
          <a:ln/>
        </p:spPr>
        <p:txBody>
          <a:bodyPr wrap="square" lIns="0" tIns="0" rIns="0" bIns="0" rtlCol="0" anchor="t"/>
          <a:lstStyle/>
          <a:p>
            <a:pPr indent="0" marL="0">
              <a:buNone/>
            </a:pPr>
            <a:r>
              <a:rPr lang="en-US" sz="1200" b="1" dirty="0">
                <a:solidFill>
                  <a:srgbClr val="7C3AED"/>
                </a:solidFill>
                <a:latin typeface="Calibri" pitchFamily="34" charset="0"/>
                <a:ea typeface="Calibri" pitchFamily="34" charset="-122"/>
                <a:cs typeface="Calibri" pitchFamily="34" charset="-120"/>
              </a:rPr>
              <a:t>4 requests a day (limit 10/min)</a:t>
            </a:r>
            <a:endParaRPr lang="en-US" sz="1200" dirty="0"/>
          </a:p>
        </p:txBody>
      </p:sp>
      <p:sp>
        <p:nvSpPr>
          <p:cNvPr id="9" name="Shape 6"/>
          <p:cNvSpPr/>
          <p:nvPr/>
        </p:nvSpPr>
        <p:spPr>
          <a:xfrm>
            <a:off x="4663440" y="1188720"/>
            <a:ext cx="4023360" cy="1508760"/>
          </a:xfrm>
          <a:prstGeom prst="roundRect">
            <a:avLst>
              <a:gd name="adj" fmla="val 4848"/>
            </a:avLst>
          </a:prstGeom>
          <a:solidFill>
            <a:srgbClr val="F1F5F9"/>
          </a:solidFill>
          <a:ln w="12700">
            <a:solidFill>
              <a:srgbClr val="F1F5F9"/>
            </a:solidFill>
            <a:prstDash val="solid"/>
          </a:ln>
        </p:spPr>
      </p:sp>
      <p:sp>
        <p:nvSpPr>
          <p:cNvPr id="10" name="Shape 7"/>
          <p:cNvSpPr/>
          <p:nvPr/>
        </p:nvSpPr>
        <p:spPr>
          <a:xfrm>
            <a:off x="4937760" y="1572768"/>
            <a:ext cx="731520" cy="731520"/>
          </a:xfrm>
          <a:prstGeom prst="ellipse">
            <a:avLst/>
          </a:prstGeom>
          <a:solidFill>
            <a:srgbClr val="0F172A"/>
          </a:solidFill>
          <a:ln w="12700">
            <a:solidFill>
              <a:srgbClr val="0F172A"/>
            </a:solidFill>
            <a:prstDash val="solid"/>
          </a:ln>
        </p:spPr>
      </p:sp>
      <p:pic>
        <p:nvPicPr>
          <p:cNvPr id="11" name="Image 1" descr="preencoded.png">    </p:cNvPr>
          <p:cNvPicPr>
            <a:picLocks noChangeAspect="1"/>
          </p:cNvPicPr>
          <p:nvPr/>
        </p:nvPicPr>
        <p:blipFill>
          <a:blip r:embed="rId2"/>
          <a:stretch>
            <a:fillRect/>
          </a:stretch>
        </p:blipFill>
        <p:spPr>
          <a:xfrm>
            <a:off x="5127955" y="1762963"/>
            <a:ext cx="351130" cy="351130"/>
          </a:xfrm>
          <a:prstGeom prst="rect">
            <a:avLst/>
          </a:prstGeom>
        </p:spPr>
      </p:pic>
      <p:sp>
        <p:nvSpPr>
          <p:cNvPr id="12" name="Text 8"/>
          <p:cNvSpPr txBox="1"/>
          <p:nvPr/>
        </p:nvSpPr>
        <p:spPr>
          <a:xfrm>
            <a:off x="5897880" y="1444752"/>
            <a:ext cx="2651760" cy="365760"/>
          </a:xfrm>
          <a:prstGeom prst="rect">
            <a:avLst/>
          </a:prstGeom>
          <a:noFill/>
          <a:ln/>
        </p:spPr>
        <p:txBody>
          <a:bodyPr wrap="square" lIns="0" tIns="0" rIns="0" bIns="0" rtlCol="0" anchor="t"/>
          <a:lstStyle/>
          <a:p>
            <a:pPr indent="0" marL="0">
              <a:buNone/>
            </a:pPr>
            <a:r>
              <a:rPr lang="en-US" sz="1800" b="1" dirty="0">
                <a:solidFill>
                  <a:srgbClr val="0F172A"/>
                </a:solidFill>
                <a:latin typeface="Calibri" pitchFamily="34" charset="0"/>
                <a:ea typeface="Calibri" pitchFamily="34" charset="-122"/>
                <a:cs typeface="Calibri" pitchFamily="34" charset="-120"/>
              </a:rPr>
              <a:t>Open-Meteo</a:t>
            </a:r>
            <a:endParaRPr lang="en-US" sz="1800" dirty="0"/>
          </a:p>
        </p:txBody>
      </p:sp>
      <p:sp>
        <p:nvSpPr>
          <p:cNvPr id="13" name="Text 9"/>
          <p:cNvSpPr txBox="1"/>
          <p:nvPr/>
        </p:nvSpPr>
        <p:spPr>
          <a:xfrm>
            <a:off x="5897880" y="1828800"/>
            <a:ext cx="2651760" cy="320040"/>
          </a:xfrm>
          <a:prstGeom prst="rect">
            <a:avLst/>
          </a:prstGeom>
          <a:noFill/>
          <a:ln/>
        </p:spPr>
        <p:txBody>
          <a:bodyPr wrap="square" lIns="0" tIns="0" rIns="0" bIns="0" rtlCol="0" anchor="t"/>
          <a:lstStyle/>
          <a:p>
            <a:pPr indent="0" marL="0">
              <a:buNone/>
            </a:pPr>
            <a:r>
              <a:rPr lang="en-US" sz="1300" dirty="0">
                <a:solidFill>
                  <a:srgbClr val="0F172A"/>
                </a:solidFill>
                <a:latin typeface="Calibri" pitchFamily="34" charset="0"/>
                <a:ea typeface="Calibri" pitchFamily="34" charset="-122"/>
                <a:cs typeface="Calibri" pitchFamily="34" charset="-120"/>
              </a:rPr>
              <a:t>forecast for the kick-off hour</a:t>
            </a:r>
            <a:endParaRPr lang="en-US" sz="1300" dirty="0"/>
          </a:p>
        </p:txBody>
      </p:sp>
      <p:sp>
        <p:nvSpPr>
          <p:cNvPr id="14" name="Text 10"/>
          <p:cNvSpPr txBox="1"/>
          <p:nvPr/>
        </p:nvSpPr>
        <p:spPr>
          <a:xfrm>
            <a:off x="5897880" y="2167128"/>
            <a:ext cx="2651760" cy="292608"/>
          </a:xfrm>
          <a:prstGeom prst="rect">
            <a:avLst/>
          </a:prstGeom>
          <a:noFill/>
          <a:ln/>
        </p:spPr>
        <p:txBody>
          <a:bodyPr wrap="square" lIns="0" tIns="0" rIns="0" bIns="0" rtlCol="0" anchor="t"/>
          <a:lstStyle/>
          <a:p>
            <a:pPr indent="0" marL="0">
              <a:buNone/>
            </a:pPr>
            <a:r>
              <a:rPr lang="en-US" sz="1200" b="1" dirty="0">
                <a:solidFill>
                  <a:srgbClr val="7C3AED"/>
                </a:solidFill>
                <a:latin typeface="Calibri" pitchFamily="34" charset="0"/>
                <a:ea typeface="Calibri" pitchFamily="34" charset="-122"/>
                <a:cs typeface="Calibri" pitchFamily="34" charset="-120"/>
              </a:rPr>
              <a:t>max. 16 days ahead · no key</a:t>
            </a:r>
            <a:endParaRPr lang="en-US" sz="1200" dirty="0"/>
          </a:p>
        </p:txBody>
      </p:sp>
      <p:sp>
        <p:nvSpPr>
          <p:cNvPr id="15" name="Shape 11"/>
          <p:cNvSpPr/>
          <p:nvPr/>
        </p:nvSpPr>
        <p:spPr>
          <a:xfrm>
            <a:off x="457200" y="2880360"/>
            <a:ext cx="4023360" cy="1508760"/>
          </a:xfrm>
          <a:prstGeom prst="roundRect">
            <a:avLst>
              <a:gd name="adj" fmla="val 4848"/>
            </a:avLst>
          </a:prstGeom>
          <a:solidFill>
            <a:srgbClr val="F1F5F9"/>
          </a:solidFill>
          <a:ln w="12700">
            <a:solidFill>
              <a:srgbClr val="F1F5F9"/>
            </a:solidFill>
            <a:prstDash val="solid"/>
          </a:ln>
        </p:spPr>
      </p:sp>
      <p:sp>
        <p:nvSpPr>
          <p:cNvPr id="16" name="Shape 12"/>
          <p:cNvSpPr/>
          <p:nvPr/>
        </p:nvSpPr>
        <p:spPr>
          <a:xfrm>
            <a:off x="731520" y="3264408"/>
            <a:ext cx="731520" cy="731520"/>
          </a:xfrm>
          <a:prstGeom prst="ellipse">
            <a:avLst/>
          </a:prstGeom>
          <a:solidFill>
            <a:srgbClr val="0F172A"/>
          </a:solidFill>
          <a:ln w="12700">
            <a:solidFill>
              <a:srgbClr val="0F172A"/>
            </a:solidFill>
            <a:prstDash val="solid"/>
          </a:ln>
        </p:spPr>
      </p:sp>
      <p:pic>
        <p:nvPicPr>
          <p:cNvPr id="17" name="Image 2" descr="preencoded.png">    </p:cNvPr>
          <p:cNvPicPr>
            <a:picLocks noChangeAspect="1"/>
          </p:cNvPicPr>
          <p:nvPr/>
        </p:nvPicPr>
        <p:blipFill>
          <a:blip r:embed="rId3"/>
          <a:stretch>
            <a:fillRect/>
          </a:stretch>
        </p:blipFill>
        <p:spPr>
          <a:xfrm>
            <a:off x="921715" y="3454603"/>
            <a:ext cx="351130" cy="351130"/>
          </a:xfrm>
          <a:prstGeom prst="rect">
            <a:avLst/>
          </a:prstGeom>
        </p:spPr>
      </p:pic>
      <p:sp>
        <p:nvSpPr>
          <p:cNvPr id="18" name="Text 13"/>
          <p:cNvSpPr txBox="1"/>
          <p:nvPr/>
        </p:nvSpPr>
        <p:spPr>
          <a:xfrm>
            <a:off x="1691640" y="3136392"/>
            <a:ext cx="2651760" cy="365760"/>
          </a:xfrm>
          <a:prstGeom prst="rect">
            <a:avLst/>
          </a:prstGeom>
          <a:noFill/>
          <a:ln/>
        </p:spPr>
        <p:txBody>
          <a:bodyPr wrap="square" lIns="0" tIns="0" rIns="0" bIns="0" rtlCol="0" anchor="t"/>
          <a:lstStyle/>
          <a:p>
            <a:pPr indent="0" marL="0">
              <a:buNone/>
            </a:pPr>
            <a:r>
              <a:rPr lang="en-US" sz="1800" b="1" dirty="0">
                <a:solidFill>
                  <a:srgbClr val="0F172A"/>
                </a:solidFill>
                <a:latin typeface="Calibri" pitchFamily="34" charset="0"/>
                <a:ea typeface="Calibri" pitchFamily="34" charset="-122"/>
                <a:cs typeface="Calibri" pitchFamily="34" charset="-120"/>
              </a:rPr>
              <a:t>The Odds API</a:t>
            </a:r>
            <a:endParaRPr lang="en-US" sz="1800" dirty="0"/>
          </a:p>
        </p:txBody>
      </p:sp>
      <p:sp>
        <p:nvSpPr>
          <p:cNvPr id="19" name="Text 14"/>
          <p:cNvSpPr txBox="1"/>
          <p:nvPr/>
        </p:nvSpPr>
        <p:spPr>
          <a:xfrm>
            <a:off x="1691640" y="3520440"/>
            <a:ext cx="2651760" cy="320040"/>
          </a:xfrm>
          <a:prstGeom prst="rect">
            <a:avLst/>
          </a:prstGeom>
          <a:noFill/>
          <a:ln/>
        </p:spPr>
        <p:txBody>
          <a:bodyPr wrap="square" lIns="0" tIns="0" rIns="0" bIns="0" rtlCol="0" anchor="t"/>
          <a:lstStyle/>
          <a:p>
            <a:pPr indent="0" marL="0">
              <a:buNone/>
            </a:pPr>
            <a:r>
              <a:rPr lang="en-US" sz="1300" dirty="0">
                <a:solidFill>
                  <a:srgbClr val="0F172A"/>
                </a:solidFill>
                <a:latin typeface="Calibri" pitchFamily="34" charset="0"/>
                <a:ea typeface="Calibri" pitchFamily="34" charset="-122"/>
                <a:cs typeface="Calibri" pitchFamily="34" charset="-120"/>
              </a:rPr>
              <a:t>1X2 odds of ~25 bookmakers</a:t>
            </a:r>
            <a:endParaRPr lang="en-US" sz="1300" dirty="0"/>
          </a:p>
        </p:txBody>
      </p:sp>
      <p:sp>
        <p:nvSpPr>
          <p:cNvPr id="20" name="Text 15"/>
          <p:cNvSpPr txBox="1"/>
          <p:nvPr/>
        </p:nvSpPr>
        <p:spPr>
          <a:xfrm>
            <a:off x="1691640" y="3858768"/>
            <a:ext cx="2651760" cy="292608"/>
          </a:xfrm>
          <a:prstGeom prst="rect">
            <a:avLst/>
          </a:prstGeom>
          <a:noFill/>
          <a:ln/>
        </p:spPr>
        <p:txBody>
          <a:bodyPr wrap="square" lIns="0" tIns="0" rIns="0" bIns="0" rtlCol="0" anchor="t"/>
          <a:lstStyle/>
          <a:p>
            <a:pPr indent="0" marL="0">
              <a:buNone/>
            </a:pPr>
            <a:r>
              <a:rPr lang="en-US" sz="1200" b="1" dirty="0">
                <a:solidFill>
                  <a:srgbClr val="7C3AED"/>
                </a:solidFill>
                <a:latin typeface="Calibri" pitchFamily="34" charset="0"/>
                <a:ea typeface="Calibri" pitchFamily="34" charset="-122"/>
                <a:cs typeface="Calibri" pitchFamily="34" charset="-120"/>
              </a:rPr>
              <a:t>500 credits a month</a:t>
            </a:r>
            <a:endParaRPr lang="en-US" sz="1200" dirty="0"/>
          </a:p>
        </p:txBody>
      </p:sp>
      <p:sp>
        <p:nvSpPr>
          <p:cNvPr id="21" name="Shape 16"/>
          <p:cNvSpPr/>
          <p:nvPr/>
        </p:nvSpPr>
        <p:spPr>
          <a:xfrm>
            <a:off x="4663440" y="2880360"/>
            <a:ext cx="4023360" cy="1508760"/>
          </a:xfrm>
          <a:prstGeom prst="roundRect">
            <a:avLst>
              <a:gd name="adj" fmla="val 4848"/>
            </a:avLst>
          </a:prstGeom>
          <a:solidFill>
            <a:srgbClr val="F1F5F9"/>
          </a:solidFill>
          <a:ln w="12700">
            <a:solidFill>
              <a:srgbClr val="F1F5F9"/>
            </a:solidFill>
            <a:prstDash val="solid"/>
          </a:ln>
        </p:spPr>
      </p:sp>
      <p:sp>
        <p:nvSpPr>
          <p:cNvPr id="22" name="Shape 17"/>
          <p:cNvSpPr/>
          <p:nvPr/>
        </p:nvSpPr>
        <p:spPr>
          <a:xfrm>
            <a:off x="4937760" y="3264408"/>
            <a:ext cx="731520" cy="731520"/>
          </a:xfrm>
          <a:prstGeom prst="ellipse">
            <a:avLst/>
          </a:prstGeom>
          <a:solidFill>
            <a:srgbClr val="0F172A"/>
          </a:solidFill>
          <a:ln w="12700">
            <a:solidFill>
              <a:srgbClr val="0F172A"/>
            </a:solidFill>
            <a:prstDash val="solid"/>
          </a:ln>
        </p:spPr>
      </p:sp>
      <p:pic>
        <p:nvPicPr>
          <p:cNvPr id="23" name="Image 3" descr="preencoded.png">    </p:cNvPr>
          <p:cNvPicPr>
            <a:picLocks noChangeAspect="1"/>
          </p:cNvPicPr>
          <p:nvPr/>
        </p:nvPicPr>
        <p:blipFill>
          <a:blip r:embed="rId4"/>
          <a:stretch>
            <a:fillRect/>
          </a:stretch>
        </p:blipFill>
        <p:spPr>
          <a:xfrm>
            <a:off x="5127955" y="3454603"/>
            <a:ext cx="351130" cy="351130"/>
          </a:xfrm>
          <a:prstGeom prst="rect">
            <a:avLst/>
          </a:prstGeom>
        </p:spPr>
      </p:pic>
      <p:sp>
        <p:nvSpPr>
          <p:cNvPr id="24" name="Text 18"/>
          <p:cNvSpPr txBox="1"/>
          <p:nvPr/>
        </p:nvSpPr>
        <p:spPr>
          <a:xfrm>
            <a:off x="5897880" y="3136392"/>
            <a:ext cx="2651760" cy="365760"/>
          </a:xfrm>
          <a:prstGeom prst="rect">
            <a:avLst/>
          </a:prstGeom>
          <a:noFill/>
          <a:ln/>
        </p:spPr>
        <p:txBody>
          <a:bodyPr wrap="square" lIns="0" tIns="0" rIns="0" bIns="0" rtlCol="0" anchor="t"/>
          <a:lstStyle/>
          <a:p>
            <a:pPr indent="0" marL="0">
              <a:buNone/>
            </a:pPr>
            <a:r>
              <a:rPr lang="en-US" sz="1800" b="1" dirty="0">
                <a:solidFill>
                  <a:srgbClr val="0F172A"/>
                </a:solidFill>
                <a:latin typeface="Calibri" pitchFamily="34" charset="0"/>
                <a:ea typeface="Calibri" pitchFamily="34" charset="-122"/>
                <a:cs typeface="Calibri" pitchFamily="34" charset="-120"/>
              </a:rPr>
              <a:t>OpenStreetMap</a:t>
            </a:r>
            <a:endParaRPr lang="en-US" sz="1800" dirty="0"/>
          </a:p>
        </p:txBody>
      </p:sp>
      <p:sp>
        <p:nvSpPr>
          <p:cNvPr id="25" name="Text 19"/>
          <p:cNvSpPr txBox="1"/>
          <p:nvPr/>
        </p:nvSpPr>
        <p:spPr>
          <a:xfrm>
            <a:off x="5897880" y="3520440"/>
            <a:ext cx="2651760" cy="320040"/>
          </a:xfrm>
          <a:prstGeom prst="rect">
            <a:avLst/>
          </a:prstGeom>
          <a:noFill/>
          <a:ln/>
        </p:spPr>
        <p:txBody>
          <a:bodyPr wrap="square" lIns="0" tIns="0" rIns="0" bIns="0" rtlCol="0" anchor="t"/>
          <a:lstStyle/>
          <a:p>
            <a:pPr indent="0" marL="0">
              <a:buNone/>
            </a:pPr>
            <a:r>
              <a:rPr lang="en-US" sz="1300" dirty="0">
                <a:solidFill>
                  <a:srgbClr val="0F172A"/>
                </a:solidFill>
                <a:latin typeface="Calibri" pitchFamily="34" charset="0"/>
                <a:ea typeface="Calibri" pitchFamily="34" charset="-122"/>
                <a:cs typeface="Calibri" pitchFamily="34" charset="-120"/>
              </a:rPr>
              <a:t>stadium coordinates</a:t>
            </a:r>
            <a:endParaRPr lang="en-US" sz="1300" dirty="0"/>
          </a:p>
        </p:txBody>
      </p:sp>
      <p:sp>
        <p:nvSpPr>
          <p:cNvPr id="26" name="Text 20"/>
          <p:cNvSpPr txBox="1"/>
          <p:nvPr/>
        </p:nvSpPr>
        <p:spPr>
          <a:xfrm>
            <a:off x="5897880" y="3858768"/>
            <a:ext cx="2651760" cy="292608"/>
          </a:xfrm>
          <a:prstGeom prst="rect">
            <a:avLst/>
          </a:prstGeom>
          <a:noFill/>
          <a:ln/>
        </p:spPr>
        <p:txBody>
          <a:bodyPr wrap="square" lIns="0" tIns="0" rIns="0" bIns="0" rtlCol="0" anchor="t"/>
          <a:lstStyle/>
          <a:p>
            <a:pPr indent="0" marL="0">
              <a:buNone/>
            </a:pPr>
            <a:r>
              <a:rPr lang="en-US" sz="1200" b="1" dirty="0">
                <a:solidFill>
                  <a:srgbClr val="7C3AED"/>
                </a:solidFill>
                <a:latin typeface="Calibri" pitchFamily="34" charset="0"/>
                <a:ea typeface="Calibri" pitchFamily="34" charset="-122"/>
                <a:cs typeface="Calibri" pitchFamily="34" charset="-120"/>
              </a:rPr>
              <a:t>once per club</a:t>
            </a:r>
            <a:endParaRPr lang="en-US" sz="1200" dirty="0"/>
          </a:p>
        </p:txBody>
      </p:sp>
      <p:sp>
        <p:nvSpPr>
          <p:cNvPr id="27" name="Text 21"/>
          <p:cNvSpPr txBox="1"/>
          <p:nvPr/>
        </p:nvSpPr>
        <p:spPr>
          <a:xfrm>
            <a:off x="457200" y="4572000"/>
            <a:ext cx="8229600" cy="274320"/>
          </a:xfrm>
          <a:prstGeom prst="rect">
            <a:avLst/>
          </a:prstGeom>
          <a:noFill/>
          <a:ln/>
        </p:spPr>
        <p:txBody>
          <a:bodyPr wrap="square" lIns="0" tIns="0" rIns="0" bIns="0" rtlCol="0" anchor="t"/>
          <a:lstStyle/>
          <a:p>
            <a:pPr indent="0" marL="0">
              <a:buNone/>
            </a:pPr>
            <a:r>
              <a:rPr lang="en-US" sz="1200" i="1" dirty="0">
                <a:solidFill>
                  <a:srgbClr val="475569"/>
                </a:solidFill>
                <a:latin typeface="Calibri" pitchFamily="34" charset="0"/>
                <a:ea typeface="Calibri" pitchFamily="34" charset="-122"/>
                <a:cs typeface="Calibri" pitchFamily="34" charset="-120"/>
              </a:rPr>
              <a:t>All documented, all free, no scraping.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Small volume, deep history</a:t>
            </a:r>
            <a:endParaRPr lang="en-US" sz="3000" dirty="0"/>
          </a:p>
        </p:txBody>
      </p:sp>
      <p:graphicFrame>
        <p:nvGraphicFramePr>
          <p:cNvPr id="3" name="Chart 0" descr=""/>
          <p:cNvGraphicFramePr/>
          <p:nvPr/>
        </p:nvGraphicFramePr>
        <p:xfrm>
          <a:off x="365760" y="1051560"/>
          <a:ext cx="4114800" cy="3200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4800600" y="1143000"/>
            <a:ext cx="1828800" cy="1325880"/>
          </a:xfrm>
          <a:prstGeom prst="roundRect">
            <a:avLst>
              <a:gd name="adj" fmla="val 5517"/>
            </a:avLst>
          </a:prstGeom>
          <a:solidFill>
            <a:srgbClr val="F1F5F9"/>
          </a:solidFill>
          <a:ln w="12700">
            <a:solidFill>
              <a:srgbClr val="F1F5F9"/>
            </a:solidFill>
            <a:prstDash val="solid"/>
          </a:ln>
        </p:spPr>
      </p:sp>
      <p:sp>
        <p:nvSpPr>
          <p:cNvPr id="5" name="Text 2"/>
          <p:cNvSpPr txBox="1"/>
          <p:nvPr/>
        </p:nvSpPr>
        <p:spPr>
          <a:xfrm>
            <a:off x="4983480" y="1280160"/>
            <a:ext cx="1554480" cy="685800"/>
          </a:xfrm>
          <a:prstGeom prst="rect">
            <a:avLst/>
          </a:prstGeom>
          <a:noFill/>
          <a:ln/>
        </p:spPr>
        <p:txBody>
          <a:bodyPr wrap="square" lIns="0" tIns="0" rIns="0" bIns="0" rtlCol="0" anchor="ctr"/>
          <a:lstStyle/>
          <a:p>
            <a:pPr indent="0" marL="0">
              <a:buNone/>
            </a:pPr>
            <a:r>
              <a:rPr lang="en-US" sz="4000" b="1" dirty="0">
                <a:solidFill>
                  <a:srgbClr val="0F172A"/>
                </a:solidFill>
                <a:latin typeface="Calibri" pitchFamily="34" charset="0"/>
                <a:ea typeface="Calibri" pitchFamily="34" charset="-122"/>
                <a:cs typeface="Calibri" pitchFamily="34" charset="-120"/>
              </a:rPr>
              <a:t>458</a:t>
            </a:r>
            <a:endParaRPr lang="en-US" sz="4000" dirty="0"/>
          </a:p>
        </p:txBody>
      </p:sp>
      <p:sp>
        <p:nvSpPr>
          <p:cNvPr id="6" name="Text 3"/>
          <p:cNvSpPr txBox="1"/>
          <p:nvPr/>
        </p:nvSpPr>
        <p:spPr>
          <a:xfrm>
            <a:off x="4983480" y="1984248"/>
            <a:ext cx="1554480" cy="365760"/>
          </a:xfrm>
          <a:prstGeom prst="rect">
            <a:avLst/>
          </a:prstGeom>
          <a:noFill/>
          <a:ln/>
        </p:spPr>
        <p:txBody>
          <a:bodyPr wrap="square" lIns="0" tIns="0" rIns="0" bIns="0" rtlCol="0" anchor="t"/>
          <a:lstStyle/>
          <a:p>
            <a:pPr indent="0" marL="0">
              <a:buNone/>
            </a:pPr>
            <a:r>
              <a:rPr lang="en-US" sz="1200" dirty="0">
                <a:solidFill>
                  <a:srgbClr val="475569"/>
                </a:solidFill>
                <a:latin typeface="Calibri" pitchFamily="34" charset="0"/>
                <a:ea typeface="Calibri" pitchFamily="34" charset="-122"/>
                <a:cs typeface="Calibri" pitchFamily="34" charset="-120"/>
              </a:rPr>
              <a:t>matches</a:t>
            </a:r>
            <a:endParaRPr lang="en-US" sz="1200" dirty="0"/>
          </a:p>
        </p:txBody>
      </p:sp>
      <p:sp>
        <p:nvSpPr>
          <p:cNvPr id="7" name="Shape 4"/>
          <p:cNvSpPr/>
          <p:nvPr/>
        </p:nvSpPr>
        <p:spPr>
          <a:xfrm>
            <a:off x="6766560" y="1143000"/>
            <a:ext cx="1828800" cy="1325880"/>
          </a:xfrm>
          <a:prstGeom prst="roundRect">
            <a:avLst>
              <a:gd name="adj" fmla="val 5517"/>
            </a:avLst>
          </a:prstGeom>
          <a:solidFill>
            <a:srgbClr val="F1F5F9"/>
          </a:solidFill>
          <a:ln w="12700">
            <a:solidFill>
              <a:srgbClr val="F1F5F9"/>
            </a:solidFill>
            <a:prstDash val="solid"/>
          </a:ln>
        </p:spPr>
      </p:sp>
      <p:sp>
        <p:nvSpPr>
          <p:cNvPr id="8" name="Text 5"/>
          <p:cNvSpPr txBox="1"/>
          <p:nvPr/>
        </p:nvSpPr>
        <p:spPr>
          <a:xfrm>
            <a:off x="6949440" y="1280160"/>
            <a:ext cx="1554480" cy="685800"/>
          </a:xfrm>
          <a:prstGeom prst="rect">
            <a:avLst/>
          </a:prstGeom>
          <a:noFill/>
          <a:ln/>
        </p:spPr>
        <p:txBody>
          <a:bodyPr wrap="square" lIns="0" tIns="0" rIns="0" bIns="0" rtlCol="0" anchor="ctr"/>
          <a:lstStyle/>
          <a:p>
            <a:pPr indent="0" marL="0">
              <a:buNone/>
            </a:pPr>
            <a:r>
              <a:rPr lang="en-US" sz="4000" b="1" dirty="0">
                <a:solidFill>
                  <a:srgbClr val="0F172A"/>
                </a:solidFill>
                <a:latin typeface="Calibri" pitchFamily="34" charset="0"/>
                <a:ea typeface="Calibri" pitchFamily="34" charset="-122"/>
                <a:cs typeface="Calibri" pitchFamily="34" charset="-120"/>
              </a:rPr>
              <a:t>60</a:t>
            </a:r>
            <a:endParaRPr lang="en-US" sz="4000" dirty="0"/>
          </a:p>
        </p:txBody>
      </p:sp>
      <p:sp>
        <p:nvSpPr>
          <p:cNvPr id="9" name="Text 6"/>
          <p:cNvSpPr txBox="1"/>
          <p:nvPr/>
        </p:nvSpPr>
        <p:spPr>
          <a:xfrm>
            <a:off x="6949440" y="1984248"/>
            <a:ext cx="1554480" cy="365760"/>
          </a:xfrm>
          <a:prstGeom prst="rect">
            <a:avLst/>
          </a:prstGeom>
          <a:noFill/>
          <a:ln/>
        </p:spPr>
        <p:txBody>
          <a:bodyPr wrap="square" lIns="0" tIns="0" rIns="0" bIns="0" rtlCol="0" anchor="t"/>
          <a:lstStyle/>
          <a:p>
            <a:pPr indent="0" marL="0">
              <a:buNone/>
            </a:pPr>
            <a:r>
              <a:rPr lang="en-US" sz="1200" dirty="0">
                <a:solidFill>
                  <a:srgbClr val="475569"/>
                </a:solidFill>
                <a:latin typeface="Calibri" pitchFamily="34" charset="0"/>
                <a:ea typeface="Calibri" pitchFamily="34" charset="-122"/>
                <a:cs typeface="Calibri" pitchFamily="34" charset="-120"/>
              </a:rPr>
              <a:t>clubs</a:t>
            </a:r>
            <a:endParaRPr lang="en-US" sz="1200" dirty="0"/>
          </a:p>
        </p:txBody>
      </p:sp>
      <p:sp>
        <p:nvSpPr>
          <p:cNvPr id="10" name="Shape 7"/>
          <p:cNvSpPr/>
          <p:nvPr/>
        </p:nvSpPr>
        <p:spPr>
          <a:xfrm>
            <a:off x="4800600" y="2651760"/>
            <a:ext cx="1828800" cy="1325880"/>
          </a:xfrm>
          <a:prstGeom prst="roundRect">
            <a:avLst>
              <a:gd name="adj" fmla="val 5517"/>
            </a:avLst>
          </a:prstGeom>
          <a:solidFill>
            <a:srgbClr val="F1F5F9"/>
          </a:solidFill>
          <a:ln w="12700">
            <a:solidFill>
              <a:srgbClr val="F1F5F9"/>
            </a:solidFill>
            <a:prstDash val="solid"/>
          </a:ln>
        </p:spPr>
      </p:sp>
      <p:sp>
        <p:nvSpPr>
          <p:cNvPr id="11" name="Text 8"/>
          <p:cNvSpPr txBox="1"/>
          <p:nvPr/>
        </p:nvSpPr>
        <p:spPr>
          <a:xfrm>
            <a:off x="4983480" y="2788920"/>
            <a:ext cx="1554480" cy="685800"/>
          </a:xfrm>
          <a:prstGeom prst="rect">
            <a:avLst/>
          </a:prstGeom>
          <a:noFill/>
          <a:ln/>
        </p:spPr>
        <p:txBody>
          <a:bodyPr wrap="square" lIns="0" tIns="0" rIns="0" bIns="0" rtlCol="0" anchor="ctr"/>
          <a:lstStyle/>
          <a:p>
            <a:pPr indent="0" marL="0">
              <a:buNone/>
            </a:pPr>
            <a:r>
              <a:rPr lang="en-US" sz="4000" b="1" dirty="0">
                <a:solidFill>
                  <a:srgbClr val="7C3AED"/>
                </a:solidFill>
                <a:latin typeface="Calibri" pitchFamily="34" charset="0"/>
                <a:ea typeface="Calibri" pitchFamily="34" charset="-122"/>
                <a:cs typeface="Calibri" pitchFamily="34" charset="-120"/>
              </a:rPr>
              <a:t>332</a:t>
            </a:r>
            <a:endParaRPr lang="en-US" sz="4000" dirty="0"/>
          </a:p>
        </p:txBody>
      </p:sp>
      <p:sp>
        <p:nvSpPr>
          <p:cNvPr id="12" name="Text 9"/>
          <p:cNvSpPr txBox="1"/>
          <p:nvPr/>
        </p:nvSpPr>
        <p:spPr>
          <a:xfrm>
            <a:off x="4983480" y="3493008"/>
            <a:ext cx="1554480" cy="365760"/>
          </a:xfrm>
          <a:prstGeom prst="rect">
            <a:avLst/>
          </a:prstGeom>
          <a:noFill/>
          <a:ln/>
        </p:spPr>
        <p:txBody>
          <a:bodyPr wrap="square" lIns="0" tIns="0" rIns="0" bIns="0" rtlCol="0" anchor="t"/>
          <a:lstStyle/>
          <a:p>
            <a:pPr indent="0" marL="0">
              <a:buNone/>
            </a:pPr>
            <a:r>
              <a:rPr lang="en-US" sz="1200" dirty="0">
                <a:solidFill>
                  <a:srgbClr val="475569"/>
                </a:solidFill>
                <a:latin typeface="Calibri" pitchFamily="34" charset="0"/>
                <a:ea typeface="Calibri" pitchFamily="34" charset="-122"/>
                <a:cs typeface="Calibri" pitchFamily="34" charset="-120"/>
              </a:rPr>
              <a:t>with a result (label)</a:t>
            </a:r>
            <a:endParaRPr lang="en-US" sz="1200" dirty="0"/>
          </a:p>
        </p:txBody>
      </p:sp>
      <p:sp>
        <p:nvSpPr>
          <p:cNvPr id="13" name="Shape 10"/>
          <p:cNvSpPr/>
          <p:nvPr/>
        </p:nvSpPr>
        <p:spPr>
          <a:xfrm>
            <a:off x="6766560" y="2651760"/>
            <a:ext cx="1828800" cy="1325880"/>
          </a:xfrm>
          <a:prstGeom prst="roundRect">
            <a:avLst>
              <a:gd name="adj" fmla="val 5517"/>
            </a:avLst>
          </a:prstGeom>
          <a:solidFill>
            <a:srgbClr val="F1F5F9"/>
          </a:solidFill>
          <a:ln w="12700">
            <a:solidFill>
              <a:srgbClr val="F1F5F9"/>
            </a:solidFill>
            <a:prstDash val="solid"/>
          </a:ln>
        </p:spPr>
      </p:sp>
      <p:sp>
        <p:nvSpPr>
          <p:cNvPr id="14" name="Text 11"/>
          <p:cNvSpPr txBox="1"/>
          <p:nvPr/>
        </p:nvSpPr>
        <p:spPr>
          <a:xfrm>
            <a:off x="6949440" y="2788920"/>
            <a:ext cx="1554480" cy="685800"/>
          </a:xfrm>
          <a:prstGeom prst="rect">
            <a:avLst/>
          </a:prstGeom>
          <a:noFill/>
          <a:ln/>
        </p:spPr>
        <p:txBody>
          <a:bodyPr wrap="square" lIns="0" tIns="0" rIns="0" bIns="0" rtlCol="0" anchor="ctr"/>
          <a:lstStyle/>
          <a:p>
            <a:pPr indent="0" marL="0">
              <a:buNone/>
            </a:pPr>
            <a:r>
              <a:rPr lang="en-US" sz="4000" b="1" dirty="0">
                <a:solidFill>
                  <a:srgbClr val="0F172A"/>
                </a:solidFill>
                <a:latin typeface="Calibri" pitchFamily="34" charset="0"/>
                <a:ea typeface="Calibri" pitchFamily="34" charset="-122"/>
                <a:cs typeface="Calibri" pitchFamily="34" charset="-120"/>
              </a:rPr>
              <a:t>47</a:t>
            </a:r>
            <a:endParaRPr lang="en-US" sz="4000" dirty="0"/>
          </a:p>
        </p:txBody>
      </p:sp>
      <p:sp>
        <p:nvSpPr>
          <p:cNvPr id="15" name="Text 12"/>
          <p:cNvSpPr txBox="1"/>
          <p:nvPr/>
        </p:nvSpPr>
        <p:spPr>
          <a:xfrm>
            <a:off x="6949440" y="3493008"/>
            <a:ext cx="1554480" cy="365760"/>
          </a:xfrm>
          <a:prstGeom prst="rect">
            <a:avLst/>
          </a:prstGeom>
          <a:noFill/>
          <a:ln/>
        </p:spPr>
        <p:txBody>
          <a:bodyPr wrap="square" lIns="0" tIns="0" rIns="0" bIns="0" rtlCol="0" anchor="t"/>
          <a:lstStyle/>
          <a:p>
            <a:pPr indent="0" marL="0">
              <a:buNone/>
            </a:pPr>
            <a:r>
              <a:rPr lang="en-US" sz="1200" dirty="0">
                <a:solidFill>
                  <a:srgbClr val="475569"/>
                </a:solidFill>
                <a:latin typeface="Calibri" pitchFamily="34" charset="0"/>
                <a:ea typeface="Calibri" pitchFamily="34" charset="-122"/>
                <a:cs typeface="Calibri" pitchFamily="34" charset="-120"/>
              </a:rPr>
              <a:t>seasons available</a:t>
            </a:r>
            <a:endParaRPr lang="en-US" sz="1200" dirty="0"/>
          </a:p>
        </p:txBody>
      </p:sp>
      <p:sp>
        <p:nvSpPr>
          <p:cNvPr id="16" name="Text 13"/>
          <p:cNvSpPr txBox="1"/>
          <p:nvPr/>
        </p:nvSpPr>
        <p:spPr>
          <a:xfrm>
            <a:off x="457200" y="4480560"/>
            <a:ext cx="8229600" cy="320040"/>
          </a:xfrm>
          <a:prstGeom prst="rect">
            <a:avLst/>
          </a:prstGeom>
          <a:noFill/>
          <a:ln/>
        </p:spPr>
        <p:txBody>
          <a:bodyPr wrap="square" lIns="0" tIns="0" rIns="0" bIns="0" rtlCol="0" anchor="t"/>
          <a:lstStyle/>
          <a:p>
            <a:pPr indent="0" marL="0">
              <a:buNone/>
            </a:pPr>
            <a:r>
              <a:rPr lang="en-US" sz="1200" dirty="0">
                <a:solidFill>
                  <a:srgbClr val="475569"/>
                </a:solidFill>
                <a:latin typeface="Calibri" pitchFamily="34" charset="0"/>
                <a:ea typeface="Calibri" pitchFamily="34" charset="-122"/>
                <a:cs typeface="Calibri" pitchFamily="34" charset="-120"/>
              </a:rPr>
              <a:t>1 season = 1 request ≈ 212 KB   ·   &lt; 2 MB per day   ·   format change 2024/25: groups → league phase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Risks we measured, not guessed</a:t>
            </a:r>
            <a:endParaRPr lang="en-US" sz="3000" dirty="0"/>
          </a:p>
        </p:txBody>
      </p:sp>
      <p:sp>
        <p:nvSpPr>
          <p:cNvPr id="3" name="Text 1"/>
          <p:cNvSpPr txBox="1"/>
          <p:nvPr/>
        </p:nvSpPr>
        <p:spPr>
          <a:xfrm>
            <a:off x="457200" y="1051560"/>
            <a:ext cx="2468880" cy="274320"/>
          </a:xfrm>
          <a:prstGeom prst="rect">
            <a:avLst/>
          </a:prstGeom>
          <a:noFill/>
          <a:ln/>
        </p:spPr>
        <p:txBody>
          <a:bodyPr wrap="square" lIns="0" tIns="0" rIns="0" bIns="0" rtlCol="0" anchor="t"/>
          <a:lstStyle/>
          <a:p>
            <a:pPr indent="0" marL="0">
              <a:buNone/>
            </a:pPr>
            <a:r>
              <a:rPr lang="en-US" sz="1100" b="1" dirty="0">
                <a:solidFill>
                  <a:srgbClr val="475569"/>
                </a:solidFill>
                <a:latin typeface="Calibri" pitchFamily="34" charset="0"/>
                <a:ea typeface="Calibri" pitchFamily="34" charset="-122"/>
                <a:cs typeface="Calibri" pitchFamily="34" charset="-120"/>
              </a:rPr>
              <a:t>Finding</a:t>
            </a:r>
            <a:endParaRPr lang="en-US" sz="1100" dirty="0"/>
          </a:p>
        </p:txBody>
      </p:sp>
      <p:sp>
        <p:nvSpPr>
          <p:cNvPr id="4" name="Text 2"/>
          <p:cNvSpPr txBox="1"/>
          <p:nvPr/>
        </p:nvSpPr>
        <p:spPr>
          <a:xfrm>
            <a:off x="3337560" y="1051560"/>
            <a:ext cx="2651760" cy="274320"/>
          </a:xfrm>
          <a:prstGeom prst="rect">
            <a:avLst/>
          </a:prstGeom>
          <a:noFill/>
          <a:ln/>
        </p:spPr>
        <p:txBody>
          <a:bodyPr wrap="square" lIns="0" tIns="0" rIns="0" bIns="0" rtlCol="0" anchor="t"/>
          <a:lstStyle/>
          <a:p>
            <a:pPr indent="0" marL="0">
              <a:buNone/>
            </a:pPr>
            <a:r>
              <a:rPr lang="en-US" sz="1100" b="1" dirty="0">
                <a:solidFill>
                  <a:srgbClr val="475569"/>
                </a:solidFill>
                <a:latin typeface="Calibri" pitchFamily="34" charset="0"/>
                <a:ea typeface="Calibri" pitchFamily="34" charset="-122"/>
                <a:cs typeface="Calibri" pitchFamily="34" charset="-120"/>
              </a:rPr>
              <a:t>Our answer</a:t>
            </a:r>
            <a:endParaRPr lang="en-US" sz="1100" dirty="0"/>
          </a:p>
        </p:txBody>
      </p:sp>
      <p:sp>
        <p:nvSpPr>
          <p:cNvPr id="5" name="Shape 3"/>
          <p:cNvSpPr/>
          <p:nvPr/>
        </p:nvSpPr>
        <p:spPr>
          <a:xfrm>
            <a:off x="457200" y="1371600"/>
            <a:ext cx="5577840" cy="530352"/>
          </a:xfrm>
          <a:prstGeom prst="roundRect">
            <a:avLst>
              <a:gd name="adj" fmla="val 13793"/>
            </a:avLst>
          </a:prstGeom>
          <a:solidFill>
            <a:srgbClr val="F1F5F9"/>
          </a:solidFill>
          <a:ln w="12700">
            <a:solidFill>
              <a:srgbClr val="F1F5F9"/>
            </a:solidFill>
            <a:prstDash val="solid"/>
          </a:ln>
        </p:spPr>
      </p:sp>
      <p:sp>
        <p:nvSpPr>
          <p:cNvPr id="6" name="Text 4"/>
          <p:cNvSpPr txBox="1"/>
          <p:nvPr/>
        </p:nvSpPr>
        <p:spPr>
          <a:xfrm>
            <a:off x="640080" y="1371600"/>
            <a:ext cx="2377440" cy="530352"/>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Status filter lies</a:t>
            </a:r>
            <a:endParaRPr lang="en-US" sz="1400" dirty="0"/>
          </a:p>
        </p:txBody>
      </p:sp>
      <p:pic>
        <p:nvPicPr>
          <p:cNvPr id="7" name="Image 0" descr="preencoded.png">    </p:cNvPr>
          <p:cNvPicPr>
            <a:picLocks noChangeAspect="1"/>
          </p:cNvPicPr>
          <p:nvPr/>
        </p:nvPicPr>
        <p:blipFill>
          <a:blip r:embed="rId1"/>
          <a:stretch>
            <a:fillRect/>
          </a:stretch>
        </p:blipFill>
        <p:spPr>
          <a:xfrm>
            <a:off x="3017520" y="1527048"/>
            <a:ext cx="219456" cy="219456"/>
          </a:xfrm>
          <a:prstGeom prst="rect">
            <a:avLst/>
          </a:prstGeom>
        </p:spPr>
      </p:pic>
      <p:sp>
        <p:nvSpPr>
          <p:cNvPr id="8" name="Text 5"/>
          <p:cNvSpPr txBox="1"/>
          <p:nvPr/>
        </p:nvSpPr>
        <p:spPr>
          <a:xfrm>
            <a:off x="3337560" y="1371600"/>
            <a:ext cx="2606040" cy="530352"/>
          </a:xfrm>
          <a:prstGeom prst="rect">
            <a:avLst/>
          </a:prstGeom>
          <a:noFill/>
          <a:ln/>
        </p:spPr>
        <p:txBody>
          <a:bodyPr wrap="square" lIns="0" tIns="0" rIns="0" bIns="0" rtlCol="0" anchor="ctr"/>
          <a:lstStyle/>
          <a:p>
            <a:pPr indent="0" marL="0">
              <a:buNone/>
            </a:pPr>
            <a:r>
              <a:rPr lang="en-US" sz="1400" dirty="0">
                <a:solidFill>
                  <a:srgbClr val="0F172A"/>
                </a:solidFill>
                <a:latin typeface="Calibri" pitchFamily="34" charset="0"/>
                <a:ea typeface="Calibri" pitchFamily="34" charset="-122"/>
                <a:cs typeface="Calibri" pitchFamily="34" charset="-120"/>
              </a:rPr>
              <a:t>select by kick-off time</a:t>
            </a:r>
            <a:endParaRPr lang="en-US" sz="1400" dirty="0"/>
          </a:p>
        </p:txBody>
      </p:sp>
      <p:sp>
        <p:nvSpPr>
          <p:cNvPr id="9" name="Shape 6"/>
          <p:cNvSpPr/>
          <p:nvPr/>
        </p:nvSpPr>
        <p:spPr>
          <a:xfrm>
            <a:off x="457200" y="2011680"/>
            <a:ext cx="5577840" cy="530352"/>
          </a:xfrm>
          <a:prstGeom prst="roundRect">
            <a:avLst>
              <a:gd name="adj" fmla="val 13793"/>
            </a:avLst>
          </a:prstGeom>
          <a:solidFill>
            <a:srgbClr val="F1F5F9"/>
          </a:solidFill>
          <a:ln w="12700">
            <a:solidFill>
              <a:srgbClr val="F1F5F9"/>
            </a:solidFill>
            <a:prstDash val="solid"/>
          </a:ln>
        </p:spPr>
      </p:sp>
      <p:sp>
        <p:nvSpPr>
          <p:cNvPr id="10" name="Text 7"/>
          <p:cNvSpPr txBox="1"/>
          <p:nvPr/>
        </p:nvSpPr>
        <p:spPr>
          <a:xfrm>
            <a:off x="640080" y="2011680"/>
            <a:ext cx="2377440" cy="530352"/>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API sums do not add up</a:t>
            </a:r>
            <a:endParaRPr lang="en-US" sz="1400" dirty="0"/>
          </a:p>
        </p:txBody>
      </p:sp>
      <p:pic>
        <p:nvPicPr>
          <p:cNvPr id="11" name="Image 1" descr="preencoded.png">    </p:cNvPr>
          <p:cNvPicPr>
            <a:picLocks noChangeAspect="1"/>
          </p:cNvPicPr>
          <p:nvPr/>
        </p:nvPicPr>
        <p:blipFill>
          <a:blip r:embed="rId2"/>
          <a:stretch>
            <a:fillRect/>
          </a:stretch>
        </p:blipFill>
        <p:spPr>
          <a:xfrm>
            <a:off x="3017520" y="2167128"/>
            <a:ext cx="219456" cy="219456"/>
          </a:xfrm>
          <a:prstGeom prst="rect">
            <a:avLst/>
          </a:prstGeom>
        </p:spPr>
      </p:pic>
      <p:sp>
        <p:nvSpPr>
          <p:cNvPr id="12" name="Text 8"/>
          <p:cNvSpPr txBox="1"/>
          <p:nvPr/>
        </p:nvSpPr>
        <p:spPr>
          <a:xfrm>
            <a:off x="3337560" y="2011680"/>
            <a:ext cx="2606040" cy="530352"/>
          </a:xfrm>
          <a:prstGeom prst="rect">
            <a:avLst/>
          </a:prstGeom>
          <a:noFill/>
          <a:ln/>
        </p:spPr>
        <p:txBody>
          <a:bodyPr wrap="square" lIns="0" tIns="0" rIns="0" bIns="0" rtlCol="0" anchor="ctr"/>
          <a:lstStyle/>
          <a:p>
            <a:pPr indent="0" marL="0">
              <a:buNone/>
            </a:pPr>
            <a:r>
              <a:rPr lang="en-US" sz="1400" dirty="0">
                <a:solidFill>
                  <a:srgbClr val="0F172A"/>
                </a:solidFill>
                <a:latin typeface="Calibri" pitchFamily="34" charset="0"/>
                <a:ea typeface="Calibri" pitchFamily="34" charset="-122"/>
                <a:cs typeface="Calibri" pitchFamily="34" charset="-120"/>
              </a:rPr>
              <a:t>compute form ourselves</a:t>
            </a:r>
            <a:endParaRPr lang="en-US" sz="1400" dirty="0"/>
          </a:p>
        </p:txBody>
      </p:sp>
      <p:sp>
        <p:nvSpPr>
          <p:cNvPr id="13" name="Shape 9"/>
          <p:cNvSpPr/>
          <p:nvPr/>
        </p:nvSpPr>
        <p:spPr>
          <a:xfrm>
            <a:off x="457200" y="2651760"/>
            <a:ext cx="5577840" cy="530352"/>
          </a:xfrm>
          <a:prstGeom prst="roundRect">
            <a:avLst>
              <a:gd name="adj" fmla="val 13793"/>
            </a:avLst>
          </a:prstGeom>
          <a:solidFill>
            <a:srgbClr val="F1F5F9"/>
          </a:solidFill>
          <a:ln w="12700">
            <a:solidFill>
              <a:srgbClr val="F1F5F9"/>
            </a:solidFill>
            <a:prstDash val="solid"/>
          </a:ln>
        </p:spPr>
      </p:sp>
      <p:sp>
        <p:nvSpPr>
          <p:cNvPr id="14" name="Text 10"/>
          <p:cNvSpPr txBox="1"/>
          <p:nvPr/>
        </p:nvSpPr>
        <p:spPr>
          <a:xfrm>
            <a:off x="640080" y="2651760"/>
            <a:ext cx="2377440" cy="530352"/>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Napoli found in Novara</a:t>
            </a:r>
            <a:endParaRPr lang="en-US" sz="1400" dirty="0"/>
          </a:p>
        </p:txBody>
      </p:sp>
      <p:pic>
        <p:nvPicPr>
          <p:cNvPr id="15" name="Image 2" descr="preencoded.png">    </p:cNvPr>
          <p:cNvPicPr>
            <a:picLocks noChangeAspect="1"/>
          </p:cNvPicPr>
          <p:nvPr/>
        </p:nvPicPr>
        <p:blipFill>
          <a:blip r:embed="rId3"/>
          <a:stretch>
            <a:fillRect/>
          </a:stretch>
        </p:blipFill>
        <p:spPr>
          <a:xfrm>
            <a:off x="3017520" y="2807208"/>
            <a:ext cx="219456" cy="219456"/>
          </a:xfrm>
          <a:prstGeom prst="rect">
            <a:avLst/>
          </a:prstGeom>
        </p:spPr>
      </p:pic>
      <p:sp>
        <p:nvSpPr>
          <p:cNvPr id="16" name="Text 11"/>
          <p:cNvSpPr txBox="1"/>
          <p:nvPr/>
        </p:nvSpPr>
        <p:spPr>
          <a:xfrm>
            <a:off x="3337560" y="2651760"/>
            <a:ext cx="2606040" cy="530352"/>
          </a:xfrm>
          <a:prstGeom prst="rect">
            <a:avLst/>
          </a:prstGeom>
          <a:noFill/>
          <a:ln/>
        </p:spPr>
        <p:txBody>
          <a:bodyPr wrap="square" lIns="0" tIns="0" rIns="0" bIns="0" rtlCol="0" anchor="ctr"/>
          <a:lstStyle/>
          <a:p>
            <a:pPr indent="0" marL="0">
              <a:buNone/>
            </a:pPr>
            <a:r>
              <a:rPr lang="en-US" sz="1400" dirty="0">
                <a:solidFill>
                  <a:srgbClr val="0F172A"/>
                </a:solidFill>
                <a:latin typeface="Calibri" pitchFamily="34" charset="0"/>
                <a:ea typeface="Calibri" pitchFamily="34" charset="-122"/>
                <a:cs typeface="Calibri" pitchFamily="34" charset="-120"/>
              </a:rPr>
              <a:t>every stadium checked by hand</a:t>
            </a:r>
            <a:endParaRPr lang="en-US" sz="1400" dirty="0"/>
          </a:p>
        </p:txBody>
      </p:sp>
      <p:sp>
        <p:nvSpPr>
          <p:cNvPr id="17" name="Shape 12"/>
          <p:cNvSpPr/>
          <p:nvPr/>
        </p:nvSpPr>
        <p:spPr>
          <a:xfrm>
            <a:off x="457200" y="3291840"/>
            <a:ext cx="5577840" cy="530352"/>
          </a:xfrm>
          <a:prstGeom prst="roundRect">
            <a:avLst>
              <a:gd name="adj" fmla="val 13793"/>
            </a:avLst>
          </a:prstGeom>
          <a:solidFill>
            <a:srgbClr val="F1F5F9"/>
          </a:solidFill>
          <a:ln w="12700">
            <a:solidFill>
              <a:srgbClr val="F1F5F9"/>
            </a:solidFill>
            <a:prstDash val="solid"/>
          </a:ln>
        </p:spPr>
      </p:sp>
      <p:sp>
        <p:nvSpPr>
          <p:cNvPr id="18" name="Text 13"/>
          <p:cNvSpPr txBox="1"/>
          <p:nvPr/>
        </p:nvSpPr>
        <p:spPr>
          <a:xfrm>
            <a:off x="640080" y="3291840"/>
            <a:ext cx="2377440" cy="530352"/>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Free-tier limits</a:t>
            </a:r>
            <a:endParaRPr lang="en-US" sz="1400" dirty="0"/>
          </a:p>
        </p:txBody>
      </p:sp>
      <p:pic>
        <p:nvPicPr>
          <p:cNvPr id="19" name="Image 3" descr="preencoded.png">    </p:cNvPr>
          <p:cNvPicPr>
            <a:picLocks noChangeAspect="1"/>
          </p:cNvPicPr>
          <p:nvPr/>
        </p:nvPicPr>
        <p:blipFill>
          <a:blip r:embed="rId4"/>
          <a:stretch>
            <a:fillRect/>
          </a:stretch>
        </p:blipFill>
        <p:spPr>
          <a:xfrm>
            <a:off x="3017520" y="3447288"/>
            <a:ext cx="219456" cy="219456"/>
          </a:xfrm>
          <a:prstGeom prst="rect">
            <a:avLst/>
          </a:prstGeom>
        </p:spPr>
      </p:pic>
      <p:sp>
        <p:nvSpPr>
          <p:cNvPr id="20" name="Text 14"/>
          <p:cNvSpPr txBox="1"/>
          <p:nvPr/>
        </p:nvSpPr>
        <p:spPr>
          <a:xfrm>
            <a:off x="3337560" y="3291840"/>
            <a:ext cx="2606040" cy="530352"/>
          </a:xfrm>
          <a:prstGeom prst="rect">
            <a:avLst/>
          </a:prstGeom>
          <a:noFill/>
          <a:ln/>
        </p:spPr>
        <p:txBody>
          <a:bodyPr wrap="square" lIns="0" tIns="0" rIns="0" bIns="0" rtlCol="0" anchor="ctr"/>
          <a:lstStyle/>
          <a:p>
            <a:pPr indent="0" marL="0">
              <a:buNone/>
            </a:pPr>
            <a:r>
              <a:rPr lang="en-US" sz="1400" dirty="0">
                <a:solidFill>
                  <a:srgbClr val="0F172A"/>
                </a:solidFill>
                <a:latin typeface="Calibri" pitchFamily="34" charset="0"/>
                <a:ea typeface="Calibri" pitchFamily="34" charset="-122"/>
                <a:cs typeface="Calibri" pitchFamily="34" charset="-120"/>
              </a:rPr>
              <a:t>pacing, retries, credit budget</a:t>
            </a:r>
            <a:endParaRPr lang="en-US" sz="1400" dirty="0"/>
          </a:p>
        </p:txBody>
      </p:sp>
      <p:sp>
        <p:nvSpPr>
          <p:cNvPr id="21" name="Shape 15"/>
          <p:cNvSpPr/>
          <p:nvPr/>
        </p:nvSpPr>
        <p:spPr>
          <a:xfrm>
            <a:off x="457200" y="3931920"/>
            <a:ext cx="5577840" cy="530352"/>
          </a:xfrm>
          <a:prstGeom prst="roundRect">
            <a:avLst>
              <a:gd name="adj" fmla="val 13793"/>
            </a:avLst>
          </a:prstGeom>
          <a:solidFill>
            <a:srgbClr val="F1F5F9"/>
          </a:solidFill>
          <a:ln w="12700">
            <a:solidFill>
              <a:srgbClr val="F1F5F9"/>
            </a:solidFill>
            <a:prstDash val="solid"/>
          </a:ln>
        </p:spPr>
      </p:sp>
      <p:sp>
        <p:nvSpPr>
          <p:cNvPr id="22" name="Text 16"/>
          <p:cNvSpPr txBox="1"/>
          <p:nvPr/>
        </p:nvSpPr>
        <p:spPr>
          <a:xfrm>
            <a:off x="640080" y="3931920"/>
            <a:ext cx="2377440" cy="530352"/>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Sources overwrite history</a:t>
            </a:r>
            <a:endParaRPr lang="en-US" sz="1400" dirty="0"/>
          </a:p>
        </p:txBody>
      </p:sp>
      <p:pic>
        <p:nvPicPr>
          <p:cNvPr id="23" name="Image 4" descr="preencoded.png">    </p:cNvPr>
          <p:cNvPicPr>
            <a:picLocks noChangeAspect="1"/>
          </p:cNvPicPr>
          <p:nvPr/>
        </p:nvPicPr>
        <p:blipFill>
          <a:blip r:embed="rId5"/>
          <a:stretch>
            <a:fillRect/>
          </a:stretch>
        </p:blipFill>
        <p:spPr>
          <a:xfrm>
            <a:off x="3017520" y="4087368"/>
            <a:ext cx="219456" cy="219456"/>
          </a:xfrm>
          <a:prstGeom prst="rect">
            <a:avLst/>
          </a:prstGeom>
        </p:spPr>
      </p:pic>
      <p:sp>
        <p:nvSpPr>
          <p:cNvPr id="24" name="Text 17"/>
          <p:cNvSpPr txBox="1"/>
          <p:nvPr/>
        </p:nvSpPr>
        <p:spPr>
          <a:xfrm>
            <a:off x="3337560" y="3931920"/>
            <a:ext cx="2606040" cy="530352"/>
          </a:xfrm>
          <a:prstGeom prst="rect">
            <a:avLst/>
          </a:prstGeom>
          <a:noFill/>
          <a:ln/>
        </p:spPr>
        <p:txBody>
          <a:bodyPr wrap="square" lIns="0" tIns="0" rIns="0" bIns="0" rtlCol="0" anchor="ctr"/>
          <a:lstStyle/>
          <a:p>
            <a:pPr indent="0" marL="0">
              <a:buNone/>
            </a:pPr>
            <a:r>
              <a:rPr lang="en-US" sz="1400" dirty="0">
                <a:solidFill>
                  <a:srgbClr val="0F172A"/>
                </a:solidFill>
                <a:latin typeface="Calibri" pitchFamily="34" charset="0"/>
                <a:ea typeface="Calibri" pitchFamily="34" charset="-122"/>
                <a:cs typeface="Calibri" pitchFamily="34" charset="-120"/>
              </a:rPr>
              <a:t>we keep every answer</a:t>
            </a:r>
            <a:endParaRPr lang="en-US" sz="1400" dirty="0"/>
          </a:p>
        </p:txBody>
      </p:sp>
      <p:sp>
        <p:nvSpPr>
          <p:cNvPr id="25" name="Shape 18"/>
          <p:cNvSpPr/>
          <p:nvPr/>
        </p:nvSpPr>
        <p:spPr>
          <a:xfrm>
            <a:off x="6309360" y="1371600"/>
            <a:ext cx="2377440" cy="3090672"/>
          </a:xfrm>
          <a:prstGeom prst="roundRect">
            <a:avLst>
              <a:gd name="adj" fmla="val 3077"/>
            </a:avLst>
          </a:prstGeom>
          <a:solidFill>
            <a:srgbClr val="0F172A"/>
          </a:solidFill>
          <a:ln w="12700">
            <a:solidFill>
              <a:srgbClr val="0F172A"/>
            </a:solidFill>
            <a:prstDash val="solid"/>
          </a:ln>
        </p:spPr>
      </p:sp>
      <p:sp>
        <p:nvSpPr>
          <p:cNvPr id="26" name="Shape 19"/>
          <p:cNvSpPr/>
          <p:nvPr/>
        </p:nvSpPr>
        <p:spPr>
          <a:xfrm>
            <a:off x="6537960" y="1600200"/>
            <a:ext cx="640080" cy="640080"/>
          </a:xfrm>
          <a:prstGeom prst="ellipse">
            <a:avLst/>
          </a:prstGeom>
          <a:solidFill>
            <a:srgbClr val="7C3AED"/>
          </a:solidFill>
          <a:ln w="12700">
            <a:solidFill>
              <a:srgbClr val="7C3AED"/>
            </a:solidFill>
            <a:prstDash val="solid"/>
          </a:ln>
        </p:spPr>
      </p:sp>
      <p:pic>
        <p:nvPicPr>
          <p:cNvPr id="27" name="Image 5" descr="preencoded.png">    </p:cNvPr>
          <p:cNvPicPr>
            <a:picLocks noChangeAspect="1"/>
          </p:cNvPicPr>
          <p:nvPr/>
        </p:nvPicPr>
        <p:blipFill>
          <a:blip r:embed="rId6"/>
          <a:stretch>
            <a:fillRect/>
          </a:stretch>
        </p:blipFill>
        <p:spPr>
          <a:xfrm>
            <a:off x="6704381" y="1766621"/>
            <a:ext cx="307238" cy="307238"/>
          </a:xfrm>
          <a:prstGeom prst="rect">
            <a:avLst/>
          </a:prstGeom>
        </p:spPr>
      </p:pic>
      <p:sp>
        <p:nvSpPr>
          <p:cNvPr id="28" name="Text 20"/>
          <p:cNvSpPr txBox="1"/>
          <p:nvPr/>
        </p:nvSpPr>
        <p:spPr>
          <a:xfrm>
            <a:off x="6537960" y="2377440"/>
            <a:ext cx="1965960" cy="73152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Biggest risk:</a:t>
            </a:r>
            <a:endParaRPr lang="en-US" sz="2000" dirty="0"/>
          </a:p>
          <a:p>
            <a:pPr indent="0" marL="0">
              <a:buNone/>
            </a:pPr>
            <a:r>
              <a:rPr lang="en-US" sz="2000" b="1" dirty="0">
                <a:solidFill>
                  <a:srgbClr val="FFFFFF"/>
                </a:solidFill>
                <a:latin typeface="Calibri" pitchFamily="34" charset="0"/>
                <a:ea typeface="Calibri" pitchFamily="34" charset="-122"/>
                <a:cs typeface="Calibri" pitchFamily="34" charset="-120"/>
              </a:rPr>
              <a:t>data leakage</a:t>
            </a:r>
            <a:endParaRPr lang="en-US" sz="2000" dirty="0"/>
          </a:p>
        </p:txBody>
      </p:sp>
      <p:sp>
        <p:nvSpPr>
          <p:cNvPr id="29" name="Text 21"/>
          <p:cNvSpPr txBox="1"/>
          <p:nvPr/>
        </p:nvSpPr>
        <p:spPr>
          <a:xfrm>
            <a:off x="6537960" y="3200400"/>
            <a:ext cx="1965960" cy="1097280"/>
          </a:xfrm>
          <a:prstGeom prst="rect">
            <a:avLst/>
          </a:prstGeom>
          <a:noFill/>
          <a:ln/>
        </p:spPr>
        <p:txBody>
          <a:bodyPr wrap="square" lIns="0" tIns="0" rIns="0" bIns="0" rtlCol="0" anchor="t"/>
          <a:lstStyle/>
          <a:p>
            <a:pPr indent="0" marL="0">
              <a:buNone/>
            </a:pPr>
            <a:r>
              <a:rPr lang="en-US" sz="1300" dirty="0">
                <a:solidFill>
                  <a:srgbClr val="CBD5E1"/>
                </a:solidFill>
                <a:latin typeface="Calibri" pitchFamily="34" charset="0"/>
                <a:ea typeface="Calibri" pitchFamily="34" charset="-122"/>
                <a:cs typeface="Calibri" pitchFamily="34" charset="-120"/>
              </a:rPr>
              <a:t>A model that sees the match it predicts looks brilliant - and is worthless.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Ingest everything first, transform afterwards</a:t>
            </a:r>
            <a:endParaRPr lang="en-US" sz="3000" dirty="0"/>
          </a:p>
        </p:txBody>
      </p:sp>
      <p:sp>
        <p:nvSpPr>
          <p:cNvPr id="3" name="Shape 1"/>
          <p:cNvSpPr/>
          <p:nvPr/>
        </p:nvSpPr>
        <p:spPr>
          <a:xfrm>
            <a:off x="457200" y="1097280"/>
            <a:ext cx="2514600" cy="960120"/>
          </a:xfrm>
          <a:prstGeom prst="roundRect">
            <a:avLst>
              <a:gd name="adj" fmla="val 7619"/>
            </a:avLst>
          </a:prstGeom>
          <a:solidFill>
            <a:srgbClr val="0F172A"/>
          </a:solidFill>
          <a:ln w="12700">
            <a:solidFill>
              <a:srgbClr val="0F172A"/>
            </a:solidFill>
            <a:prstDash val="solid"/>
          </a:ln>
        </p:spPr>
      </p:sp>
      <p:sp>
        <p:nvSpPr>
          <p:cNvPr id="4" name="Text 2"/>
          <p:cNvSpPr txBox="1"/>
          <p:nvPr/>
        </p:nvSpPr>
        <p:spPr>
          <a:xfrm>
            <a:off x="640080" y="1225296"/>
            <a:ext cx="274320" cy="320040"/>
          </a:xfrm>
          <a:prstGeom prst="rect">
            <a:avLst/>
          </a:prstGeom>
          <a:noFill/>
          <a:ln/>
        </p:spPr>
        <p:txBody>
          <a:bodyPr wrap="square" lIns="0" tIns="0" rIns="0" bIns="0" rtlCol="0" anchor="t"/>
          <a:lstStyle/>
          <a:p>
            <a:pPr indent="0" marL="0">
              <a:buNone/>
            </a:pPr>
            <a:r>
              <a:rPr lang="en-US" sz="1500" b="1" dirty="0">
                <a:solidFill>
                  <a:srgbClr val="7DD3FC"/>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960120" y="1207008"/>
            <a:ext cx="187452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Ingest</a:t>
            </a:r>
            <a:endParaRPr lang="en-US" sz="1800" dirty="0"/>
          </a:p>
        </p:txBody>
      </p:sp>
      <p:sp>
        <p:nvSpPr>
          <p:cNvPr id="6" name="Text 4"/>
          <p:cNvSpPr txBox="1"/>
          <p:nvPr/>
        </p:nvSpPr>
        <p:spPr>
          <a:xfrm>
            <a:off x="960120" y="1600200"/>
            <a:ext cx="1874520" cy="365760"/>
          </a:xfrm>
          <a:prstGeom prst="rect">
            <a:avLst/>
          </a:prstGeom>
          <a:noFill/>
          <a:ln/>
        </p:spPr>
        <p:txBody>
          <a:bodyPr wrap="square" lIns="0" tIns="0" rIns="0" bIns="0" rtlCol="0" anchor="t"/>
          <a:lstStyle/>
          <a:p>
            <a:pPr indent="0" marL="0">
              <a:buNone/>
            </a:pPr>
            <a:r>
              <a:rPr lang="en-US" sz="1200" dirty="0">
                <a:solidFill>
                  <a:srgbClr val="CBD5E1"/>
                </a:solidFill>
                <a:latin typeface="Calibri" pitchFamily="34" charset="0"/>
                <a:ea typeface="Calibri" pitchFamily="34" charset="-122"/>
                <a:cs typeface="Calibri" pitchFamily="34" charset="-120"/>
              </a:rPr>
              <a:t>store answers unchanged</a:t>
            </a:r>
            <a:endParaRPr lang="en-US" sz="1200" dirty="0"/>
          </a:p>
        </p:txBody>
      </p:sp>
      <p:pic>
        <p:nvPicPr>
          <p:cNvPr id="7" name="Image 0" descr="preencoded.png">    </p:cNvPr>
          <p:cNvPicPr>
            <a:picLocks noChangeAspect="1"/>
          </p:cNvPicPr>
          <p:nvPr/>
        </p:nvPicPr>
        <p:blipFill>
          <a:blip r:embed="rId1"/>
          <a:stretch>
            <a:fillRect/>
          </a:stretch>
        </p:blipFill>
        <p:spPr>
          <a:xfrm>
            <a:off x="3035808" y="1463040"/>
            <a:ext cx="219456" cy="219456"/>
          </a:xfrm>
          <a:prstGeom prst="rect">
            <a:avLst/>
          </a:prstGeom>
        </p:spPr>
      </p:pic>
      <p:sp>
        <p:nvSpPr>
          <p:cNvPr id="8" name="Shape 5"/>
          <p:cNvSpPr/>
          <p:nvPr/>
        </p:nvSpPr>
        <p:spPr>
          <a:xfrm>
            <a:off x="3314700" y="1097280"/>
            <a:ext cx="2514600" cy="960120"/>
          </a:xfrm>
          <a:prstGeom prst="roundRect">
            <a:avLst>
              <a:gd name="adj" fmla="val 7619"/>
            </a:avLst>
          </a:prstGeom>
          <a:solidFill>
            <a:srgbClr val="0F172A"/>
          </a:solidFill>
          <a:ln w="12700">
            <a:solidFill>
              <a:srgbClr val="0F172A"/>
            </a:solidFill>
            <a:prstDash val="solid"/>
          </a:ln>
        </p:spPr>
      </p:sp>
      <p:sp>
        <p:nvSpPr>
          <p:cNvPr id="9" name="Text 6"/>
          <p:cNvSpPr txBox="1"/>
          <p:nvPr/>
        </p:nvSpPr>
        <p:spPr>
          <a:xfrm>
            <a:off x="3497580" y="1225296"/>
            <a:ext cx="274320" cy="320040"/>
          </a:xfrm>
          <a:prstGeom prst="rect">
            <a:avLst/>
          </a:prstGeom>
          <a:noFill/>
          <a:ln/>
        </p:spPr>
        <p:txBody>
          <a:bodyPr wrap="square" lIns="0" tIns="0" rIns="0" bIns="0" rtlCol="0" anchor="t"/>
          <a:lstStyle/>
          <a:p>
            <a:pPr indent="0" marL="0">
              <a:buNone/>
            </a:pPr>
            <a:r>
              <a:rPr lang="en-US" sz="1500" b="1" dirty="0">
                <a:solidFill>
                  <a:srgbClr val="7DD3FC"/>
                </a:solidFill>
                <a:latin typeface="Calibri" pitchFamily="34" charset="0"/>
                <a:ea typeface="Calibri" pitchFamily="34" charset="-122"/>
                <a:cs typeface="Calibri" pitchFamily="34" charset="-120"/>
              </a:rPr>
              <a:t>2</a:t>
            </a:r>
            <a:endParaRPr lang="en-US" sz="1500" dirty="0"/>
          </a:p>
        </p:txBody>
      </p:sp>
      <p:sp>
        <p:nvSpPr>
          <p:cNvPr id="10" name="Text 7"/>
          <p:cNvSpPr txBox="1"/>
          <p:nvPr/>
        </p:nvSpPr>
        <p:spPr>
          <a:xfrm>
            <a:off x="3817620" y="1207008"/>
            <a:ext cx="187452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Transform</a:t>
            </a:r>
            <a:endParaRPr lang="en-US" sz="1800" dirty="0"/>
          </a:p>
        </p:txBody>
      </p:sp>
      <p:sp>
        <p:nvSpPr>
          <p:cNvPr id="11" name="Text 8"/>
          <p:cNvSpPr txBox="1"/>
          <p:nvPr/>
        </p:nvSpPr>
        <p:spPr>
          <a:xfrm>
            <a:off x="3817620" y="1600200"/>
            <a:ext cx="1874520" cy="365760"/>
          </a:xfrm>
          <a:prstGeom prst="rect">
            <a:avLst/>
          </a:prstGeom>
          <a:noFill/>
          <a:ln/>
        </p:spPr>
        <p:txBody>
          <a:bodyPr wrap="square" lIns="0" tIns="0" rIns="0" bIns="0" rtlCol="0" anchor="t"/>
          <a:lstStyle/>
          <a:p>
            <a:pPr indent="0" marL="0">
              <a:buNone/>
            </a:pPr>
            <a:r>
              <a:rPr lang="en-US" sz="1200" dirty="0">
                <a:solidFill>
                  <a:srgbClr val="CBD5E1"/>
                </a:solidFill>
                <a:latin typeface="Calibri" pitchFamily="34" charset="0"/>
                <a:ea typeface="Calibri" pitchFamily="34" charset="-122"/>
                <a:cs typeface="Calibri" pitchFamily="34" charset="-120"/>
              </a:rPr>
              <a:t>SQL: raw → staging → curated</a:t>
            </a:r>
            <a:endParaRPr lang="en-US" sz="1200" dirty="0"/>
          </a:p>
        </p:txBody>
      </p:sp>
      <p:pic>
        <p:nvPicPr>
          <p:cNvPr id="12" name="Image 1" descr="preencoded.png">    </p:cNvPr>
          <p:cNvPicPr>
            <a:picLocks noChangeAspect="1"/>
          </p:cNvPicPr>
          <p:nvPr/>
        </p:nvPicPr>
        <p:blipFill>
          <a:blip r:embed="rId2"/>
          <a:stretch>
            <a:fillRect/>
          </a:stretch>
        </p:blipFill>
        <p:spPr>
          <a:xfrm>
            <a:off x="5893308" y="1463040"/>
            <a:ext cx="219456" cy="219456"/>
          </a:xfrm>
          <a:prstGeom prst="rect">
            <a:avLst/>
          </a:prstGeom>
        </p:spPr>
      </p:pic>
      <p:sp>
        <p:nvSpPr>
          <p:cNvPr id="13" name="Shape 9"/>
          <p:cNvSpPr/>
          <p:nvPr/>
        </p:nvSpPr>
        <p:spPr>
          <a:xfrm>
            <a:off x="6172200" y="1097280"/>
            <a:ext cx="2514600" cy="960120"/>
          </a:xfrm>
          <a:prstGeom prst="roundRect">
            <a:avLst>
              <a:gd name="adj" fmla="val 7619"/>
            </a:avLst>
          </a:prstGeom>
          <a:solidFill>
            <a:srgbClr val="0F172A"/>
          </a:solidFill>
          <a:ln w="12700">
            <a:solidFill>
              <a:srgbClr val="0F172A"/>
            </a:solidFill>
            <a:prstDash val="solid"/>
          </a:ln>
        </p:spPr>
      </p:sp>
      <p:sp>
        <p:nvSpPr>
          <p:cNvPr id="14" name="Text 10"/>
          <p:cNvSpPr txBox="1"/>
          <p:nvPr/>
        </p:nvSpPr>
        <p:spPr>
          <a:xfrm>
            <a:off x="6355080" y="1225296"/>
            <a:ext cx="274320" cy="320040"/>
          </a:xfrm>
          <a:prstGeom prst="rect">
            <a:avLst/>
          </a:prstGeom>
          <a:noFill/>
          <a:ln/>
        </p:spPr>
        <p:txBody>
          <a:bodyPr wrap="square" lIns="0" tIns="0" rIns="0" bIns="0" rtlCol="0" anchor="t"/>
          <a:lstStyle/>
          <a:p>
            <a:pPr indent="0" marL="0">
              <a:buNone/>
            </a:pPr>
            <a:r>
              <a:rPr lang="en-US" sz="1500" b="1" dirty="0">
                <a:solidFill>
                  <a:srgbClr val="7DD3FC"/>
                </a:solidFill>
                <a:latin typeface="Calibri" pitchFamily="34" charset="0"/>
                <a:ea typeface="Calibri" pitchFamily="34" charset="-122"/>
                <a:cs typeface="Calibri" pitchFamily="34" charset="-120"/>
              </a:rPr>
              <a:t>3</a:t>
            </a:r>
            <a:endParaRPr lang="en-US" sz="1500" dirty="0"/>
          </a:p>
        </p:txBody>
      </p:sp>
      <p:sp>
        <p:nvSpPr>
          <p:cNvPr id="15" name="Text 11"/>
          <p:cNvSpPr txBox="1"/>
          <p:nvPr/>
        </p:nvSpPr>
        <p:spPr>
          <a:xfrm>
            <a:off x="6675120" y="1207008"/>
            <a:ext cx="187452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Serve</a:t>
            </a:r>
            <a:endParaRPr lang="en-US" sz="1800" dirty="0"/>
          </a:p>
        </p:txBody>
      </p:sp>
      <p:sp>
        <p:nvSpPr>
          <p:cNvPr id="16" name="Text 12"/>
          <p:cNvSpPr txBox="1"/>
          <p:nvPr/>
        </p:nvSpPr>
        <p:spPr>
          <a:xfrm>
            <a:off x="6675120" y="1600200"/>
            <a:ext cx="1874520" cy="365760"/>
          </a:xfrm>
          <a:prstGeom prst="rect">
            <a:avLst/>
          </a:prstGeom>
          <a:noFill/>
          <a:ln/>
        </p:spPr>
        <p:txBody>
          <a:bodyPr wrap="square" lIns="0" tIns="0" rIns="0" bIns="0" rtlCol="0" anchor="t"/>
          <a:lstStyle/>
          <a:p>
            <a:pPr indent="0" marL="0">
              <a:buNone/>
            </a:pPr>
            <a:r>
              <a:rPr lang="en-US" sz="1200" dirty="0">
                <a:solidFill>
                  <a:srgbClr val="CBD5E1"/>
                </a:solidFill>
                <a:latin typeface="Calibri" pitchFamily="34" charset="0"/>
                <a:ea typeface="Calibri" pitchFamily="34" charset="-122"/>
                <a:cs typeface="Calibri" pitchFamily="34" charset="-120"/>
              </a:rPr>
              <a:t>curated tables = data product</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2377440"/>
          <a:ext cx="5120640" cy="914400"/>
        </p:xfrm>
        <a:graphic>
          <a:graphicData uri="http://schemas.openxmlformats.org/drawingml/2006/table">
            <a:tbl>
              <a:tblPr/>
              <a:tblGrid>
                <a:gridCol w="2377440"/>
                <a:gridCol w="2743200"/>
              </a:tblGrid>
              <a:tr h="329184">
                <a:tc>
                  <a:txBody>
                    <a:bodyPr/>
                    <a:lstStyle/>
                    <a:p>
                      <a:pPr indent="0" marL="0">
                        <a:buNone/>
                      </a:pPr>
                      <a:r>
                        <a:rPr lang="en-US" sz="1200" b="1" dirty="0">
                          <a:solidFill>
                            <a:srgbClr val="475569"/>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b="1" dirty="0">
                          <a:solidFill>
                            <a:srgbClr val="475569"/>
                          </a:solidFill>
                          <a:latin typeface="Calibri" pitchFamily="34" charset="0"/>
                          <a:ea typeface="Calibri" pitchFamily="34" charset="-122"/>
                          <a:cs typeface="Calibri" pitchFamily="34" charset="-120"/>
                        </a:rPr>
                        <a:t>Strategy</a:t>
                      </a:r>
                      <a:endParaRPr lang="en-US" sz="120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Football, current season</a:t>
                      </a:r>
                      <a:endParaRPr lang="en-US" sz="120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full reload, daily</a:t>
                      </a:r>
                      <a:endParaRPr lang="en-US" sz="120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Past seasons</a:t>
                      </a:r>
                      <a:endParaRPr lang="en-US" sz="120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once - never change</a:t>
                      </a:r>
                      <a:endParaRPr lang="en-US" sz="120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Weather</a:t>
                      </a:r>
                      <a:endParaRPr lang="en-US" sz="120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daily, ≤ 16 days ahead</a:t>
                      </a:r>
                      <a:endParaRPr lang="en-US" sz="120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Odds</a:t>
                      </a:r>
                      <a:endParaRPr lang="en-US" sz="120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on a credit budget</a:t>
                      </a:r>
                      <a:endParaRPr lang="en-US" sz="120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Stadiums · crests</a:t>
                      </a:r>
                      <a:endParaRPr lang="en-US" sz="120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once per club · per URL</a:t>
                      </a:r>
                      <a:endParaRPr lang="en-US" sz="1200" dirty="0">
                        <a:latin typeface="Calibri" charset="0"/>
                        <a:ea typeface="Calibri" charset="0"/>
                        <a:cs typeface="Calibri" charset="0"/>
                      </a:endParaRPr>
                    </a:p>
                  </a:txBody>
                  <a:tcPr marL="73152" marR="73152"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18" name="Shape 13"/>
          <p:cNvSpPr/>
          <p:nvPr/>
        </p:nvSpPr>
        <p:spPr>
          <a:xfrm>
            <a:off x="5897880" y="2377440"/>
            <a:ext cx="2788920" cy="2011680"/>
          </a:xfrm>
          <a:prstGeom prst="roundRect">
            <a:avLst>
              <a:gd name="adj" fmla="val 3636"/>
            </a:avLst>
          </a:prstGeom>
          <a:solidFill>
            <a:srgbClr val="EDE9FE"/>
          </a:solidFill>
          <a:ln w="12700">
            <a:solidFill>
              <a:srgbClr val="EDE9FE"/>
            </a:solidFill>
            <a:prstDash val="solid"/>
          </a:ln>
        </p:spPr>
      </p:sp>
      <p:sp>
        <p:nvSpPr>
          <p:cNvPr id="19" name="Shape 14"/>
          <p:cNvSpPr/>
          <p:nvPr/>
        </p:nvSpPr>
        <p:spPr>
          <a:xfrm>
            <a:off x="6126480" y="2578608"/>
            <a:ext cx="548640" cy="548640"/>
          </a:xfrm>
          <a:prstGeom prst="ellipse">
            <a:avLst/>
          </a:prstGeom>
          <a:solidFill>
            <a:srgbClr val="7C3AED"/>
          </a:solidFill>
          <a:ln w="12700">
            <a:solidFill>
              <a:srgbClr val="7C3AED"/>
            </a:solidFill>
            <a:prstDash val="solid"/>
          </a:ln>
        </p:spPr>
      </p:sp>
      <p:pic>
        <p:nvPicPr>
          <p:cNvPr id="20" name="Image 2" descr="preencoded.png">    </p:cNvPr>
          <p:cNvPicPr>
            <a:picLocks noChangeAspect="1"/>
          </p:cNvPicPr>
          <p:nvPr/>
        </p:nvPicPr>
        <p:blipFill>
          <a:blip r:embed="rId3"/>
          <a:stretch>
            <a:fillRect/>
          </a:stretch>
        </p:blipFill>
        <p:spPr>
          <a:xfrm>
            <a:off x="6269126" y="2721254"/>
            <a:ext cx="263347" cy="263347"/>
          </a:xfrm>
          <a:prstGeom prst="rect">
            <a:avLst/>
          </a:prstGeom>
        </p:spPr>
      </p:pic>
      <p:sp>
        <p:nvSpPr>
          <p:cNvPr id="21" name="Text 15"/>
          <p:cNvSpPr txBox="1"/>
          <p:nvPr/>
        </p:nvSpPr>
        <p:spPr>
          <a:xfrm>
            <a:off x="6812280" y="2651760"/>
            <a:ext cx="1737360" cy="41148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Storage</a:t>
            </a:r>
            <a:endParaRPr lang="en-US" sz="1800" dirty="0"/>
          </a:p>
        </p:txBody>
      </p:sp>
      <p:sp>
        <p:nvSpPr>
          <p:cNvPr id="22" name="Text 16"/>
          <p:cNvSpPr txBox="1"/>
          <p:nvPr/>
        </p:nvSpPr>
        <p:spPr>
          <a:xfrm>
            <a:off x="6126480" y="3291840"/>
            <a:ext cx="2423160" cy="100584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Local: </a:t>
            </a:r>
            <a:pPr indent="0" marL="0">
              <a:buNone/>
            </a:pPr>
            <a:r>
              <a:rPr lang="en-US" sz="1300" dirty="0">
                <a:solidFill>
                  <a:srgbClr val="0F172A"/>
                </a:solidFill>
                <a:latin typeface="Calibri" pitchFamily="34" charset="0"/>
                <a:ea typeface="Calibri" pitchFamily="34" charset="-122"/>
                <a:cs typeface="Calibri" pitchFamily="34" charset="-120"/>
              </a:rPr>
              <a:t>PostgreSQL</a:t>
            </a:r>
            <a:endParaRPr lang="en-US" sz="1300" dirty="0"/>
          </a:p>
          <a:p>
            <a:pPr indent="0" marL="0">
              <a:buNone/>
            </a:pPr>
            <a:r>
              <a:rPr lang="en-US" sz="1100" dirty="0">
                <a:solidFill>
                  <a:srgbClr val="475569"/>
                </a:solidFill>
                <a:latin typeface="Calibri" pitchFamily="34" charset="0"/>
                <a:ea typeface="Calibri" pitchFamily="34" charset="-122"/>
                <a:cs typeface="Calibri" pitchFamily="34" charset="-120"/>
              </a:rPr>
              <a:t>raw · staging · curated · meta</a:t>
            </a:r>
            <a:endParaRPr lang="en-US" sz="1300" dirty="0"/>
          </a:p>
          <a:p>
            <a:pPr indent="0" marL="0">
              <a:buNone/>
            </a:pPr>
            <a:r>
              <a:rPr lang="en-US" sz="600" dirty="0">
                <a:solidFill>
                  <a:srgbClr val="0F172A"/>
                </a:solidFill>
                <a:latin typeface="Calibri" pitchFamily="34" charset="0"/>
                <a:ea typeface="Calibri" pitchFamily="34" charset="-122"/>
                <a:cs typeface="Calibri" pitchFamily="34" charset="-120"/>
              </a:rPr>
              <a:t> </a:t>
            </a:r>
            <a:endParaRPr lang="en-US" sz="1300" dirty="0"/>
          </a:p>
          <a:p>
            <a:pPr indent="0" marL="0">
              <a:buNone/>
            </a:pPr>
            <a:r>
              <a:rPr lang="en-US" sz="1300" b="1" dirty="0">
                <a:solidFill>
                  <a:srgbClr val="0F172A"/>
                </a:solidFill>
                <a:latin typeface="Calibri" pitchFamily="34" charset="0"/>
                <a:ea typeface="Calibri" pitchFamily="34" charset="-122"/>
                <a:cs typeface="Calibri" pitchFamily="34" charset="-120"/>
              </a:rPr>
              <a:t>Final: </a:t>
            </a:r>
            <a:pPr indent="0" marL="0">
              <a:buNone/>
            </a:pPr>
            <a:r>
              <a:rPr lang="en-US" sz="1300" dirty="0">
                <a:solidFill>
                  <a:srgbClr val="0F172A"/>
                </a:solidFill>
                <a:latin typeface="Calibri" pitchFamily="34" charset="0"/>
                <a:ea typeface="Calibri" pitchFamily="34" charset="-122"/>
                <a:cs typeface="Calibri" pitchFamily="34" charset="-120"/>
              </a:rPr>
              <a:t>GCS + BigQuery</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Architecture v0.1 - three stages</a:t>
            </a:r>
            <a:endParaRPr lang="en-US" sz="3000" dirty="0"/>
          </a:p>
        </p:txBody>
      </p:sp>
      <p:pic>
        <p:nvPicPr>
          <p:cNvPr id="3" name="Image 0" descr="/tmp/claude-0/-home-user-deng/6ad64995-db2a-524d-8165-9227e7b99a79/scratchpad/deck/overview.png">    </p:cNvPr>
          <p:cNvPicPr>
            <a:picLocks noChangeAspect="1"/>
          </p:cNvPicPr>
          <p:nvPr/>
        </p:nvPicPr>
        <p:blipFill>
          <a:blip r:embed="rId1"/>
          <a:stretch>
            <a:fillRect/>
          </a:stretch>
        </p:blipFill>
        <p:spPr>
          <a:xfrm>
            <a:off x="822960" y="960120"/>
            <a:ext cx="7498080" cy="3596018"/>
          </a:xfrm>
          <a:prstGeom prst="rect">
            <a:avLst/>
          </a:prstGeom>
        </p:spPr>
      </p:pic>
      <p:sp>
        <p:nvSpPr>
          <p:cNvPr id="4" name="Text 1"/>
          <p:cNvSpPr txBox="1"/>
          <p:nvPr/>
        </p:nvSpPr>
        <p:spPr>
          <a:xfrm>
            <a:off x="457200" y="4572000"/>
            <a:ext cx="8229600" cy="320040"/>
          </a:xfrm>
          <a:prstGeom prst="rect">
            <a:avLst/>
          </a:prstGeom>
          <a:noFill/>
          <a:ln/>
        </p:spPr>
        <p:txBody>
          <a:bodyPr wrap="square" lIns="0" tIns="0" rIns="0" bIns="0" rtlCol="0" anchor="t"/>
          <a:lstStyle/>
          <a:p>
            <a:pPr indent="0" marL="0">
              <a:buNone/>
            </a:pPr>
            <a:r>
              <a:rPr lang="en-US" sz="1300" b="1" dirty="0">
                <a:solidFill>
                  <a:srgbClr val="7C3AED"/>
                </a:solidFill>
                <a:latin typeface="Calibri" pitchFamily="34" charset="0"/>
                <a:ea typeface="Calibri" pitchFamily="34" charset="-122"/>
                <a:cs typeface="Calibri" pitchFamily="34" charset="-120"/>
              </a:rPr>
              <a:t>Rule: </a:t>
            </a:r>
            <a:pPr indent="0" marL="0">
              <a:buNone/>
            </a:pPr>
            <a:r>
              <a:rPr lang="en-US" sz="1300" dirty="0">
                <a:solidFill>
                  <a:srgbClr val="0F172A"/>
                </a:solidFill>
                <a:latin typeface="Calibri" pitchFamily="34" charset="0"/>
                <a:ea typeface="Calibri" pitchFamily="34" charset="-122"/>
                <a:cs typeface="Calibri" pitchFamily="34" charset="-120"/>
              </a:rPr>
              <a:t>ingestion never reads the transformed tables - enforced by a test.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What runs today</a:t>
            </a:r>
            <a:endParaRPr lang="en-US" sz="3000" dirty="0"/>
          </a:p>
        </p:txBody>
      </p:sp>
      <p:pic>
        <p:nvPicPr>
          <p:cNvPr id="3" name="Image 0" descr="/tmp/claude-0/-home-user-deng/6ad64995-db2a-524d-8165-9227e7b99a79/scratchpad/deck/detail.png">    </p:cNvPr>
          <p:cNvPicPr>
            <a:picLocks noChangeAspect="1"/>
          </p:cNvPicPr>
          <p:nvPr/>
        </p:nvPicPr>
        <p:blipFill>
          <a:blip r:embed="rId1"/>
          <a:stretch>
            <a:fillRect/>
          </a:stretch>
        </p:blipFill>
        <p:spPr>
          <a:xfrm>
            <a:off x="320040" y="1051560"/>
            <a:ext cx="6263640" cy="3507638"/>
          </a:xfrm>
          <a:prstGeom prst="rect">
            <a:avLst/>
          </a:prstGeom>
        </p:spPr>
      </p:pic>
      <p:sp>
        <p:nvSpPr>
          <p:cNvPr id="4" name="Shape 1"/>
          <p:cNvSpPr/>
          <p:nvPr/>
        </p:nvSpPr>
        <p:spPr>
          <a:xfrm>
            <a:off x="6720840" y="1143000"/>
            <a:ext cx="2057400" cy="3337560"/>
          </a:xfrm>
          <a:prstGeom prst="roundRect">
            <a:avLst>
              <a:gd name="adj" fmla="val 3556"/>
            </a:avLst>
          </a:prstGeom>
          <a:solidFill>
            <a:srgbClr val="F1F5F9"/>
          </a:solidFill>
          <a:ln w="12700">
            <a:solidFill>
              <a:srgbClr val="F1F5F9"/>
            </a:solidFill>
            <a:prstDash val="solid"/>
          </a:ln>
        </p:spPr>
      </p:sp>
      <p:sp>
        <p:nvSpPr>
          <p:cNvPr id="5" name="Shape 2"/>
          <p:cNvSpPr/>
          <p:nvPr/>
        </p:nvSpPr>
        <p:spPr>
          <a:xfrm>
            <a:off x="6903720" y="1353312"/>
            <a:ext cx="548640" cy="548640"/>
          </a:xfrm>
          <a:prstGeom prst="ellipse">
            <a:avLst/>
          </a:prstGeom>
          <a:solidFill>
            <a:srgbClr val="0F172A"/>
          </a:solidFill>
          <a:ln w="12700">
            <a:solidFill>
              <a:srgbClr val="0F172A"/>
            </a:solidFill>
            <a:prstDash val="solid"/>
          </a:ln>
        </p:spPr>
      </p:sp>
      <p:pic>
        <p:nvPicPr>
          <p:cNvPr id="6" name="Image 1" descr="preencoded.png">    </p:cNvPr>
          <p:cNvPicPr>
            <a:picLocks noChangeAspect="1"/>
          </p:cNvPicPr>
          <p:nvPr/>
        </p:nvPicPr>
        <p:blipFill>
          <a:blip r:embed="rId2"/>
          <a:stretch>
            <a:fillRect/>
          </a:stretch>
        </p:blipFill>
        <p:spPr>
          <a:xfrm>
            <a:off x="7046366" y="1495958"/>
            <a:ext cx="263347" cy="263347"/>
          </a:xfrm>
          <a:prstGeom prst="rect">
            <a:avLst/>
          </a:prstGeom>
        </p:spPr>
      </p:pic>
      <p:sp>
        <p:nvSpPr>
          <p:cNvPr id="7" name="Text 3"/>
          <p:cNvSpPr txBox="1"/>
          <p:nvPr/>
        </p:nvSpPr>
        <p:spPr>
          <a:xfrm>
            <a:off x="6903720" y="1993392"/>
            <a:ext cx="1783080" cy="347472"/>
          </a:xfrm>
          <a:prstGeom prst="rect">
            <a:avLst/>
          </a:prstGeom>
          <a:noFill/>
          <a:ln/>
        </p:spPr>
        <p:txBody>
          <a:bodyPr wrap="square" lIns="0" tIns="0" rIns="0" bIns="0" rtlCol="0" anchor="t"/>
          <a:lstStyle/>
          <a:p>
            <a:pPr indent="0" marL="0">
              <a:buNone/>
            </a:pPr>
            <a:r>
              <a:rPr lang="en-US" sz="1500" b="1" dirty="0">
                <a:solidFill>
                  <a:srgbClr val="0F172A"/>
                </a:solidFill>
                <a:latin typeface="Calibri" pitchFamily="34" charset="0"/>
                <a:ea typeface="Calibri" pitchFamily="34" charset="-122"/>
                <a:cs typeface="Calibri" pitchFamily="34" charset="-120"/>
              </a:rPr>
              <a:t>Docker Compose</a:t>
            </a:r>
            <a:endParaRPr lang="en-US" sz="1500" dirty="0"/>
          </a:p>
        </p:txBody>
      </p:sp>
      <p:sp>
        <p:nvSpPr>
          <p:cNvPr id="8" name="Text 4"/>
          <p:cNvSpPr txBox="1"/>
          <p:nvPr/>
        </p:nvSpPr>
        <p:spPr>
          <a:xfrm>
            <a:off x="6903720" y="2377440"/>
            <a:ext cx="1783080" cy="1188720"/>
          </a:xfrm>
          <a:prstGeom prst="rect">
            <a:avLst/>
          </a:prstGeom>
          <a:noFill/>
          <a:ln/>
        </p:spPr>
        <p:txBody>
          <a:bodyPr wrap="square" lIns="0" tIns="0" rIns="0" bIns="0" rtlCol="0" anchor="t"/>
          <a:lstStyle/>
          <a:p>
            <a:pPr marL="152400" indent="-152400">
              <a:spcAft>
                <a:spcPts val="400"/>
              </a:spcAft>
              <a:buSzPct val="100000"/>
              <a:buChar char="•"/>
            </a:pPr>
            <a:r>
              <a:rPr lang="en-US" sz="1200" dirty="0">
                <a:solidFill>
                  <a:srgbClr val="0F172A"/>
                </a:solidFill>
                <a:latin typeface="Calibri" pitchFamily="34" charset="0"/>
                <a:ea typeface="Calibri" pitchFamily="34" charset="-122"/>
                <a:cs typeface="Calibri" pitchFamily="34" charset="-120"/>
              </a:rPr>
              <a:t>PostgreSQL</a:t>
            </a:r>
            <a:endParaRPr lang="en-US" sz="1200" dirty="0"/>
          </a:p>
          <a:p>
            <a:pPr marL="152400" indent="-152400">
              <a:spcAft>
                <a:spcPts val="400"/>
              </a:spcAft>
              <a:buSzPct val="100000"/>
              <a:buChar char="•"/>
            </a:pPr>
            <a:r>
              <a:rPr lang="en-US" sz="1200" dirty="0">
                <a:solidFill>
                  <a:srgbClr val="0F172A"/>
                </a:solidFill>
                <a:latin typeface="Calibri" pitchFamily="34" charset="0"/>
                <a:ea typeface="Calibri" pitchFamily="34" charset="-122"/>
                <a:cs typeface="Calibri" pitchFamily="34" charset="-120"/>
              </a:rPr>
              <a:t>Dagster: daily 06:00, retries, backfills</a:t>
            </a:r>
            <a:endParaRPr lang="en-US" sz="1200" dirty="0"/>
          </a:p>
          <a:p>
            <a:pPr marL="152400" indent="-152400">
              <a:spcAft>
                <a:spcPts val="400"/>
              </a:spcAft>
              <a:buSzPct val="100000"/>
              <a:buChar char="•"/>
            </a:pPr>
            <a:r>
              <a:rPr lang="en-US" sz="1200" dirty="0">
                <a:solidFill>
                  <a:srgbClr val="0F172A"/>
                </a:solidFill>
                <a:latin typeface="Calibri" pitchFamily="34" charset="0"/>
                <a:ea typeface="Calibri" pitchFamily="34" charset="-122"/>
                <a:cs typeface="Calibri" pitchFamily="34" charset="-120"/>
              </a:rPr>
              <a:t>Dashboard</a:t>
            </a:r>
            <a:endParaRPr lang="en-US" sz="1200" dirty="0"/>
          </a:p>
        </p:txBody>
      </p:sp>
      <p:sp>
        <p:nvSpPr>
          <p:cNvPr id="9" name="Text 5"/>
          <p:cNvSpPr txBox="1"/>
          <p:nvPr/>
        </p:nvSpPr>
        <p:spPr>
          <a:xfrm>
            <a:off x="6903720" y="3611880"/>
            <a:ext cx="1783080" cy="274320"/>
          </a:xfrm>
          <a:prstGeom prst="rect">
            <a:avLst/>
          </a:prstGeom>
          <a:noFill/>
          <a:ln/>
        </p:spPr>
        <p:txBody>
          <a:bodyPr wrap="square" lIns="0" tIns="0" rIns="0" bIns="0" rtlCol="0" anchor="t"/>
          <a:lstStyle/>
          <a:p>
            <a:pPr indent="0" marL="0">
              <a:buNone/>
            </a:pPr>
            <a:r>
              <a:rPr lang="en-US" sz="1100" dirty="0">
                <a:solidFill>
                  <a:srgbClr val="475569"/>
                </a:solidFill>
                <a:latin typeface="Calibri" pitchFamily="34" charset="0"/>
                <a:ea typeface="Calibri" pitchFamily="34" charset="-122"/>
                <a:cs typeface="Calibri" pitchFamily="34" charset="-120"/>
              </a:rPr>
              <a:t>No API key needed:</a:t>
            </a:r>
            <a:endParaRPr lang="en-US" sz="1100" dirty="0"/>
          </a:p>
        </p:txBody>
      </p:sp>
      <p:sp>
        <p:nvSpPr>
          <p:cNvPr id="10" name="Text 6"/>
          <p:cNvSpPr txBox="1"/>
          <p:nvPr/>
        </p:nvSpPr>
        <p:spPr>
          <a:xfrm>
            <a:off x="6903720" y="3867912"/>
            <a:ext cx="1783080" cy="457200"/>
          </a:xfrm>
          <a:prstGeom prst="rect">
            <a:avLst/>
          </a:prstGeom>
          <a:noFill/>
          <a:ln/>
        </p:spPr>
        <p:txBody>
          <a:bodyPr wrap="square" lIns="0" tIns="0" rIns="0" bIns="0" rtlCol="0" anchor="t"/>
          <a:lstStyle/>
          <a:p>
            <a:pPr indent="0" marL="0">
              <a:buNone/>
            </a:pPr>
            <a:r>
              <a:rPr lang="en-US" sz="1100" b="1" dirty="0">
                <a:solidFill>
                  <a:srgbClr val="7C3AED"/>
                </a:solidFill>
                <a:latin typeface="Courier New" pitchFamily="34" charset="0"/>
                <a:ea typeface="Courier New" pitchFamily="34" charset="-122"/>
                <a:cs typeface="Courier New" pitchFamily="34" charset="-120"/>
              </a:rPr>
              <a:t>make up</a:t>
            </a:r>
            <a:endParaRPr lang="en-US" sz="1100" dirty="0"/>
          </a:p>
          <a:p>
            <a:pPr indent="0" marL="0">
              <a:buNone/>
            </a:pPr>
            <a:r>
              <a:rPr lang="en-US" sz="1100" b="1" dirty="0">
                <a:solidFill>
                  <a:srgbClr val="7C3AED"/>
                </a:solidFill>
                <a:latin typeface="Courier New" pitchFamily="34" charset="0"/>
                <a:ea typeface="Courier New" pitchFamily="34" charset="-122"/>
                <a:cs typeface="Courier New" pitchFamily="34" charset="-120"/>
              </a:rPr>
              <a:t>make run-samples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rgbClr val="0F172A"/>
                </a:solidFill>
                <a:latin typeface="Calibri" pitchFamily="34" charset="0"/>
                <a:ea typeface="Calibri" pitchFamily="34" charset="-122"/>
                <a:cs typeface="Calibri" pitchFamily="34" charset="-120"/>
              </a:rPr>
              <a:t>Where it goes, and who does what</a:t>
            </a:r>
            <a:endParaRPr lang="en-US" sz="3000" dirty="0"/>
          </a:p>
        </p:txBody>
      </p:sp>
      <p:pic>
        <p:nvPicPr>
          <p:cNvPr id="3" name="Image 0" descr="/tmp/claude-0/-home-user-deng/6ad64995-db2a-524d-8165-9227e7b99a79/scratchpad/deck/target.png">    </p:cNvPr>
          <p:cNvPicPr>
            <a:picLocks noChangeAspect="1"/>
          </p:cNvPicPr>
          <p:nvPr/>
        </p:nvPicPr>
        <p:blipFill>
          <a:blip r:embed="rId1"/>
          <a:stretch>
            <a:fillRect/>
          </a:stretch>
        </p:blipFill>
        <p:spPr>
          <a:xfrm>
            <a:off x="320040" y="1097280"/>
            <a:ext cx="5440680" cy="2773680"/>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943600" y="1097280"/>
          <a:ext cx="2743200" cy="914400"/>
        </p:xfrm>
        <a:graphic>
          <a:graphicData uri="http://schemas.openxmlformats.org/drawingml/2006/table">
            <a:tbl>
              <a:tblPr/>
              <a:tblGrid>
                <a:gridCol w="2057400"/>
                <a:gridCol w="685800"/>
              </a:tblGrid>
              <a:tr h="310896">
                <a:tc>
                  <a:txBody>
                    <a:bodyPr/>
                    <a:lstStyle/>
                    <a:p>
                      <a:pPr indent="0" marL="0">
                        <a:buNone/>
                      </a:pPr>
                      <a:r>
                        <a:rPr lang="en-US" sz="1100" b="1" dirty="0">
                          <a:solidFill>
                            <a:srgbClr val="475569"/>
                          </a:solidFill>
                          <a:latin typeface="Calibri" pitchFamily="34" charset="0"/>
                          <a:ea typeface="Calibri" pitchFamily="34" charset="-122"/>
                          <a:cs typeface="Calibri" pitchFamily="34" charset="-120"/>
                        </a:rPr>
                        <a:t>Area</a:t>
                      </a:r>
                      <a:endParaRPr lang="en-US" sz="1100" dirty="0">
                        <a:latin typeface="Calibri" charset="0"/>
                        <a:ea typeface="Calibri" charset="0"/>
                        <a:cs typeface="Calibri" charset="0"/>
                      </a:endParaRPr>
                    </a:p>
                  </a:txBody>
                  <a:tcPr marL="54864" marR="54864"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100" b="1" dirty="0">
                          <a:solidFill>
                            <a:srgbClr val="475569"/>
                          </a:solidFill>
                          <a:latin typeface="Calibri" pitchFamily="34" charset="0"/>
                          <a:ea typeface="Calibri" pitchFamily="34" charset="-122"/>
                          <a:cs typeface="Calibri" pitchFamily="34" charset="-120"/>
                        </a:rPr>
                        <a:t>Owner</a:t>
                      </a:r>
                      <a:endParaRPr lang="en-US" sz="1100" dirty="0">
                        <a:latin typeface="Calibri" charset="0"/>
                        <a:ea typeface="Calibri" charset="0"/>
                        <a:cs typeface="Calibri" charset="0"/>
                      </a:endParaRPr>
                    </a:p>
                  </a:txBody>
                  <a:tcPr marL="54864" marR="54864"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310896">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Football, past seasons</a:t>
                      </a:r>
                      <a:endParaRPr lang="en-US" sz="1100" dirty="0">
                        <a:latin typeface="Calibri" charset="0"/>
                        <a:ea typeface="Calibri" charset="0"/>
                        <a:cs typeface="Calibri" charset="0"/>
                      </a:endParaRPr>
                    </a:p>
                  </a:txBody>
                  <a:tcPr marL="54864" marR="54864"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Elias</a:t>
                      </a:r>
                      <a:endParaRPr lang="en-US" sz="1100" dirty="0">
                        <a:latin typeface="Calibri" charset="0"/>
                        <a:ea typeface="Calibri" charset="0"/>
                        <a:cs typeface="Calibri" charset="0"/>
                      </a:endParaRPr>
                    </a:p>
                  </a:txBody>
                  <a:tcPr marL="54864" marR="54864"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310896">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Weather, stadiums</a:t>
                      </a:r>
                      <a:endParaRPr lang="en-US" sz="1100" dirty="0">
                        <a:latin typeface="Calibri" charset="0"/>
                        <a:ea typeface="Calibri" charset="0"/>
                        <a:cs typeface="Calibri" charset="0"/>
                      </a:endParaRPr>
                    </a:p>
                  </a:txBody>
                  <a:tcPr marL="54864" marR="54864"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Noah</a:t>
                      </a:r>
                      <a:endParaRPr lang="en-US" sz="1100" dirty="0">
                        <a:latin typeface="Calibri" charset="0"/>
                        <a:ea typeface="Calibri" charset="0"/>
                        <a:cs typeface="Calibri" charset="0"/>
                      </a:endParaRPr>
                    </a:p>
                  </a:txBody>
                  <a:tcPr marL="54864" marR="54864"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310896">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Transformations, model</a:t>
                      </a:r>
                      <a:endParaRPr lang="en-US" sz="1100" dirty="0">
                        <a:latin typeface="Calibri" charset="0"/>
                        <a:ea typeface="Calibri" charset="0"/>
                        <a:cs typeface="Calibri" charset="0"/>
                      </a:endParaRPr>
                    </a:p>
                  </a:txBody>
                  <a:tcPr marL="54864" marR="54864"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Noah</a:t>
                      </a:r>
                      <a:endParaRPr lang="en-US" sz="1100" dirty="0">
                        <a:latin typeface="Calibri" charset="0"/>
                        <a:ea typeface="Calibri" charset="0"/>
                        <a:cs typeface="Calibri" charset="0"/>
                      </a:endParaRPr>
                    </a:p>
                  </a:txBody>
                  <a:tcPr marL="54864" marR="54864"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310896">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Orchestration, Docker, CI</a:t>
                      </a:r>
                      <a:endParaRPr lang="en-US" sz="1100" dirty="0">
                        <a:latin typeface="Calibri" charset="0"/>
                        <a:ea typeface="Calibri" charset="0"/>
                        <a:cs typeface="Calibri" charset="0"/>
                      </a:endParaRPr>
                    </a:p>
                  </a:txBody>
                  <a:tcPr marL="54864" marR="54864"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Elias</a:t>
                      </a:r>
                      <a:endParaRPr lang="en-US" sz="1100" dirty="0">
                        <a:latin typeface="Calibri" charset="0"/>
                        <a:ea typeface="Calibri" charset="0"/>
                        <a:cs typeface="Calibri" charset="0"/>
                      </a:endParaRPr>
                    </a:p>
                  </a:txBody>
                  <a:tcPr marL="54864" marR="54864"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310896">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Odds, baseline forecast</a:t>
                      </a:r>
                      <a:endParaRPr lang="en-US" sz="1100" dirty="0">
                        <a:latin typeface="Calibri" charset="0"/>
                        <a:ea typeface="Calibri" charset="0"/>
                        <a:cs typeface="Calibri" charset="0"/>
                      </a:endParaRPr>
                    </a:p>
                  </a:txBody>
                  <a:tcPr marL="54864" marR="54864"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Elias</a:t>
                      </a:r>
                      <a:endParaRPr lang="en-US" sz="1100" dirty="0">
                        <a:latin typeface="Calibri" charset="0"/>
                        <a:ea typeface="Calibri" charset="0"/>
                        <a:cs typeface="Calibri" charset="0"/>
                      </a:endParaRPr>
                    </a:p>
                  </a:txBody>
                  <a:tcPr marL="54864" marR="54864"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310896">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Dashboard, notebook</a:t>
                      </a:r>
                      <a:endParaRPr lang="en-US" sz="1100" dirty="0">
                        <a:latin typeface="Calibri" charset="0"/>
                        <a:ea typeface="Calibri" charset="0"/>
                        <a:cs typeface="Calibri" charset="0"/>
                      </a:endParaRPr>
                    </a:p>
                  </a:txBody>
                  <a:tcPr marL="54864" marR="54864"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Noah</a:t>
                      </a:r>
                      <a:endParaRPr lang="en-US" sz="1100" dirty="0">
                        <a:latin typeface="Calibri" charset="0"/>
                        <a:ea typeface="Calibri" charset="0"/>
                        <a:cs typeface="Calibri" charset="0"/>
                      </a:endParaRPr>
                    </a:p>
                  </a:txBody>
                  <a:tcPr marL="54864" marR="54864"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310896">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Cloud: Terraform, BigQuery</a:t>
                      </a:r>
                      <a:endParaRPr lang="en-US" sz="1100" dirty="0">
                        <a:latin typeface="Calibri" charset="0"/>
                        <a:ea typeface="Calibri" charset="0"/>
                        <a:cs typeface="Calibri" charset="0"/>
                      </a:endParaRPr>
                    </a:p>
                  </a:txBody>
                  <a:tcPr marL="54864" marR="54864"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both</a:t>
                      </a:r>
                      <a:endParaRPr lang="en-US" sz="1100" dirty="0">
                        <a:latin typeface="Calibri" charset="0"/>
                        <a:ea typeface="Calibri" charset="0"/>
                        <a:cs typeface="Calibri" charset="0"/>
                      </a:endParaRPr>
                    </a:p>
                  </a:txBody>
                  <a:tcPr marL="54864" marR="54864" marT="0" marB="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bl>
          </a:graphicData>
        </a:graphic>
      </p:graphicFrame>
      <p:sp>
        <p:nvSpPr>
          <p:cNvPr id="5" name="Text 1"/>
          <p:cNvSpPr txBox="1"/>
          <p:nvPr/>
        </p:nvSpPr>
        <p:spPr>
          <a:xfrm>
            <a:off x="5943600" y="3657600"/>
            <a:ext cx="2743200" cy="274320"/>
          </a:xfrm>
          <a:prstGeom prst="rect">
            <a:avLst/>
          </a:prstGeom>
          <a:noFill/>
          <a:ln/>
        </p:spPr>
        <p:txBody>
          <a:bodyPr wrap="square" lIns="0" tIns="0" rIns="0" bIns="0" rtlCol="0" anchor="t"/>
          <a:lstStyle/>
          <a:p>
            <a:pPr indent="0" marL="0">
              <a:buNone/>
            </a:pPr>
            <a:r>
              <a:rPr lang="en-US" sz="1050" i="1" dirty="0">
                <a:solidFill>
                  <a:srgbClr val="475569"/>
                </a:solidFill>
                <a:latin typeface="Calibri" pitchFamily="34" charset="0"/>
                <a:ea typeface="Calibri" pitchFamily="34" charset="-122"/>
                <a:cs typeface="Calibri" pitchFamily="34" charset="-120"/>
              </a:rPr>
              <a:t>Every pull request is reviewed by the other.</a:t>
            </a:r>
            <a:endParaRPr lang="en-US" sz="1050" dirty="0"/>
          </a:p>
        </p:txBody>
      </p:sp>
      <p:sp>
        <p:nvSpPr>
          <p:cNvPr id="6" name="Shape 2"/>
          <p:cNvSpPr/>
          <p:nvPr/>
        </p:nvSpPr>
        <p:spPr>
          <a:xfrm>
            <a:off x="457200" y="4069080"/>
            <a:ext cx="2423160" cy="566928"/>
          </a:xfrm>
          <a:prstGeom prst="roundRect">
            <a:avLst>
              <a:gd name="adj" fmla="val 12903"/>
            </a:avLst>
          </a:prstGeom>
          <a:solidFill>
            <a:srgbClr val="FFFBEB"/>
          </a:solidFill>
          <a:ln w="12700">
            <a:solidFill>
              <a:srgbClr val="B45309"/>
            </a:solidFill>
            <a:prstDash val="solid"/>
          </a:ln>
        </p:spPr>
      </p:sp>
      <p:sp>
        <p:nvSpPr>
          <p:cNvPr id="7" name="Text 3"/>
          <p:cNvSpPr txBox="1"/>
          <p:nvPr/>
        </p:nvSpPr>
        <p:spPr>
          <a:xfrm>
            <a:off x="594360" y="4069080"/>
            <a:ext cx="2194560" cy="566928"/>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Midterm · 22 Oct</a:t>
            </a:r>
            <a:endParaRPr lang="en-US" sz="1300" dirty="0"/>
          </a:p>
          <a:p>
            <a:pPr indent="0" marL="0">
              <a:buNone/>
            </a:pPr>
            <a:r>
              <a:rPr lang="en-US" sz="1100" dirty="0">
                <a:solidFill>
                  <a:srgbClr val="475569"/>
                </a:solidFill>
                <a:latin typeface="Calibri" pitchFamily="34" charset="0"/>
                <a:ea typeface="Calibri" pitchFamily="34" charset="-122"/>
                <a:cs typeface="Calibri" pitchFamily="34" charset="-120"/>
              </a:rPr>
              <a:t>local pipeline</a:t>
            </a:r>
            <a:endParaRPr lang="en-US" sz="1300" dirty="0"/>
          </a:p>
        </p:txBody>
      </p:sp>
      <p:sp>
        <p:nvSpPr>
          <p:cNvPr id="8" name="Shape 4"/>
          <p:cNvSpPr/>
          <p:nvPr/>
        </p:nvSpPr>
        <p:spPr>
          <a:xfrm>
            <a:off x="3063240" y="4069080"/>
            <a:ext cx="2423160" cy="566928"/>
          </a:xfrm>
          <a:prstGeom prst="roundRect">
            <a:avLst>
              <a:gd name="adj" fmla="val 12903"/>
            </a:avLst>
          </a:prstGeom>
          <a:solidFill>
            <a:srgbClr val="ECFDF5"/>
          </a:solidFill>
          <a:ln w="12700">
            <a:solidFill>
              <a:srgbClr val="0F9D76"/>
            </a:solidFill>
            <a:prstDash val="solid"/>
          </a:ln>
        </p:spPr>
      </p:sp>
      <p:sp>
        <p:nvSpPr>
          <p:cNvPr id="9" name="Text 5"/>
          <p:cNvSpPr txBox="1"/>
          <p:nvPr/>
        </p:nvSpPr>
        <p:spPr>
          <a:xfrm>
            <a:off x="3200400" y="4069080"/>
            <a:ext cx="2194560" cy="566928"/>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Final · 10 Dec</a:t>
            </a:r>
            <a:endParaRPr lang="en-US" sz="1300" dirty="0"/>
          </a:p>
          <a:p>
            <a:pPr indent="0" marL="0">
              <a:buNone/>
            </a:pPr>
            <a:r>
              <a:rPr lang="en-US" sz="1100" dirty="0">
                <a:solidFill>
                  <a:srgbClr val="475569"/>
                </a:solidFill>
                <a:latin typeface="Calibri" pitchFamily="34" charset="0"/>
                <a:ea typeface="Calibri" pitchFamily="34" charset="-122"/>
                <a:cs typeface="Calibri" pitchFamily="34" charset="-120"/>
              </a:rPr>
              <a:t>cloud pipeline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1463040"/>
            <a:ext cx="5486400" cy="91440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Questions?</a:t>
            </a:r>
            <a:endParaRPr lang="en-US" sz="4400" dirty="0"/>
          </a:p>
        </p:txBody>
      </p:sp>
      <p:sp>
        <p:nvSpPr>
          <p:cNvPr id="3" name="Text 1"/>
          <p:cNvSpPr txBox="1"/>
          <p:nvPr/>
        </p:nvSpPr>
        <p:spPr>
          <a:xfrm>
            <a:off x="548640" y="2377440"/>
            <a:ext cx="5486400" cy="457200"/>
          </a:xfrm>
          <a:prstGeom prst="rect">
            <a:avLst/>
          </a:prstGeom>
          <a:noFill/>
          <a:ln/>
        </p:spPr>
        <p:txBody>
          <a:bodyPr wrap="square" lIns="0" tIns="0" rIns="0" bIns="0" rtlCol="0" anchor="t"/>
          <a:lstStyle/>
          <a:p>
            <a:pPr indent="0" marL="0">
              <a:buNone/>
            </a:pPr>
            <a:r>
              <a:rPr lang="en-US" sz="1800" dirty="0">
                <a:solidFill>
                  <a:srgbClr val="CBD5E1"/>
                </a:solidFill>
                <a:latin typeface="Calibri" pitchFamily="34" charset="0"/>
                <a:ea typeface="Calibri" pitchFamily="34" charset="-122"/>
                <a:cs typeface="Calibri" pitchFamily="34" charset="-120"/>
              </a:rPr>
              <a:t>Thank you.</a:t>
            </a:r>
            <a:endParaRPr lang="en-US" sz="1800" dirty="0"/>
          </a:p>
        </p:txBody>
      </p:sp>
      <p:sp>
        <p:nvSpPr>
          <p:cNvPr id="4" name="Text 2"/>
          <p:cNvSpPr txBox="1"/>
          <p:nvPr/>
        </p:nvSpPr>
        <p:spPr>
          <a:xfrm>
            <a:off x="548640" y="4206240"/>
            <a:ext cx="5486400" cy="320040"/>
          </a:xfrm>
          <a:prstGeom prst="rect">
            <a:avLst/>
          </a:prstGeom>
          <a:noFill/>
          <a:ln/>
        </p:spPr>
        <p:txBody>
          <a:bodyPr wrap="square" lIns="0" tIns="0" rIns="0" bIns="0" rtlCol="0" anchor="t"/>
          <a:lstStyle/>
          <a:p>
            <a:pPr indent="0" marL="0">
              <a:buNone/>
            </a:pPr>
            <a:r>
              <a:rPr lang="en-US" sz="1300" dirty="0">
                <a:solidFill>
                  <a:srgbClr val="7DD3FC"/>
                </a:solidFill>
                <a:latin typeface="Calibri" pitchFamily="34" charset="0"/>
                <a:ea typeface="Calibri" pitchFamily="34" charset="-122"/>
                <a:cs typeface="Calibri" pitchFamily="34" charset="-120"/>
              </a:rPr>
              <a:t>github.com/Elias-Martinelli/deng</a:t>
            </a:r>
            <a:endParaRPr lang="en-US" sz="1300" dirty="0"/>
          </a:p>
        </p:txBody>
      </p:sp>
      <p:sp>
        <p:nvSpPr>
          <p:cNvPr id="5" name="Shape 3"/>
          <p:cNvSpPr/>
          <p:nvPr/>
        </p:nvSpPr>
        <p:spPr>
          <a:xfrm>
            <a:off x="6492240" y="1280160"/>
            <a:ext cx="2011680" cy="2011680"/>
          </a:xfrm>
          <a:prstGeom prst="ellipse">
            <a:avLst/>
          </a:prstGeom>
          <a:solidFill>
            <a:srgbClr val="1E293B"/>
          </a:solidFill>
          <a:ln w="381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7086600" y="1874520"/>
            <a:ext cx="822960" cy="8229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Champions League Match Intelligence - Initial Pitch</dc:title>
  <dc:subject>PptxGenJS Presentation</dc:subject>
  <dc:creator>Elias Martinelli, Noah Rodriguez</dc:creator>
  <cp:lastModifiedBy>Elias Martinelli, Noah Rodriguez</cp:lastModifiedBy>
  <cp:revision>1</cp:revision>
  <dcterms:created xsi:type="dcterms:W3CDTF">2026-10-01T10:43:32Z</dcterms:created>
  <dcterms:modified xsi:type="dcterms:W3CDTF">2026-10-01T10:43:32Z</dcterms:modified>
</cp:coreProperties>
</file>